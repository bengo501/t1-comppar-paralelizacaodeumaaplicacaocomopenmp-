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tempo próprio (self)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main</c:v>
                  </c:pt>
                  <c:pt idx="1">
                    <c:v>v_add</c:v>
                  </c:pt>
                  <c:pt idx="2">
                    <c:v>v_scl</c:v>
                  </c:pt>
                  <c:pt idx="3">
                    <c:v>intersect_scene</c:v>
                  </c:pt>
                  <c:pt idx="4">
                    <c:v>v_sub</c:v>
                  </c:pt>
                  <c:pt idx="5">
                    <c:v>v_norm</c:v>
                  </c:pt>
                  <c:pt idx="6">
                    <c:v>v_ (construtor)</c:v>
                  </c:pt>
                  <c:pt idx="7">
                    <c:v>v_dot</c:v>
                  </c:pt>
                  <c:pt idx="8">
                    <c:v>radiance</c:v>
                  </c:pt>
                  <c:pt idx="9">
                    <c:v>sphere_intersect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1.75</c:v>
                </c:pt>
                <c:pt idx="1">
                  <c:v>2.61</c:v>
                </c:pt>
                <c:pt idx="2">
                  <c:v>4.19</c:v>
                </c:pt>
                <c:pt idx="3">
                  <c:v>5.08</c:v>
                </c:pt>
                <c:pt idx="4">
                  <c:v>6.59</c:v>
                </c:pt>
                <c:pt idx="5">
                  <c:v>7.72</c:v>
                </c:pt>
                <c:pt idx="6">
                  <c:v>10.5</c:v>
                </c:pt>
                <c:pt idx="7">
                  <c:v>11.93</c:v>
                </c:pt>
                <c:pt idx="8">
                  <c:v>14.02</c:v>
                </c:pt>
                <c:pt idx="9">
                  <c:v>31.24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E29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9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b"/>
        <c:majorGridlines>
          <c:spPr>
            <a:ln w="12700" cap="flat">
              <a:solidFill>
                <a:srgbClr val="D9E2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Speed-up medido</c:v>
                </c:pt>
              </c:strCache>
            </c:strRef>
          </c:tx>
          <c:spPr>
            <a:solidFill>
              <a:srgbClr val="1C7293"/>
            </a:solidFill>
            <a:ln w="3810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1.9</c:v>
                </c:pt>
                <c:pt idx="2">
                  <c:v>3.31</c:v>
                </c:pt>
                <c:pt idx="3">
                  <c:v>4.93</c:v>
                </c:pt>
                <c:pt idx="4">
                  <c:v>6.14</c:v>
                </c:pt>
                <c:pt idx="5">
                  <c:v>7.3</c:v>
                </c:pt>
                <c:pt idx="6">
                  <c:v>7.44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Ideal (y = p)</c:v>
                </c:pt>
              </c:strCache>
            </c:strRef>
          </c:tx>
          <c:spPr>
            <a:solidFill>
              <a:srgbClr val="AEB9C4"/>
            </a:solidFill>
            <a:ln w="38100" cap="flat">
              <a:solidFill>
                <a:srgbClr val="AEB9C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AEB9C4"/>
              </a:solidFill>
              <a:ln w="9525" cap="flat">
                <a:solidFill>
                  <a:srgbClr val="AEB9C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5C6B7A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5C6B7A"/>
                    </a:solidFill>
                    <a:latin typeface="Arial"/>
                  </a:rPr>
                  <a:t>threads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12700" cap="flat">
              <a:solidFill>
                <a:srgbClr val="D9E2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9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Forte  T₁/(p·Tₚ)</c:v>
                </c:pt>
              </c:strCache>
            </c:strRef>
          </c:tx>
          <c:spPr>
            <a:solidFill>
              <a:srgbClr val="1C7293"/>
            </a:solidFill>
            <a:ln w="3810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94.9</c:v>
                </c:pt>
                <c:pt idx="2">
                  <c:v>82.8</c:v>
                </c:pt>
                <c:pt idx="3">
                  <c:v>82.2</c:v>
                </c:pt>
                <c:pt idx="4">
                  <c:v>76.8</c:v>
                </c:pt>
                <c:pt idx="5">
                  <c:v>73</c:v>
                </c:pt>
                <c:pt idx="6">
                  <c:v>62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Fraca  T₁/Tₚ</c:v>
                </c:pt>
              </c:strCache>
            </c:strRef>
          </c:tx>
          <c:spPr>
            <a:solidFill>
              <a:srgbClr val="02C39A"/>
            </a:solidFill>
            <a:ln w="3810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100</c:v>
                </c:pt>
                <c:pt idx="1">
                  <c:v>98.6</c:v>
                </c:pt>
                <c:pt idx="2">
                  <c:v>95</c:v>
                </c:pt>
                <c:pt idx="3">
                  <c:v>82.2</c:v>
                </c:pt>
                <c:pt idx="4">
                  <c:v>61</c:v>
                </c:pt>
                <c:pt idx="5">
                  <c:v>51.2</c:v>
                </c:pt>
                <c:pt idx="6">
                  <c:v>44.8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5C6B7A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5C6B7A"/>
                    </a:solidFill>
                    <a:latin typeface="Arial"/>
                  </a:rPr>
                  <a:t>threads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D9E2EC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9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920240"/>
            <a:ext cx="5120640" cy="5120640"/>
          </a:xfrm>
          <a:prstGeom prst="ellipse">
            <a:avLst/>
          </a:prstGeom>
          <a:solidFill>
            <a:srgbClr val="12324F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02336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 ·  COMPUTAÇÃO PARALELA  ·  UNIDADE 03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60020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Paralelização de uma aplicação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OpenMP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path tracer estilo smallpt (Kevin Beason), reescrito em C11 — renderização Monte Carlo de uma Cornell Box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212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Bernardo Klein Heitz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577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Ryzen 5 3600 (6 núcleos / 12 threads)  ·  gcc 11.4  ·  Ubuntu 22.04 (WSL2)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85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7498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APLICAÇÃO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0972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o smallpt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2148840"/>
            <a:ext cx="6583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tracer: simula o transporte de luz disparando raios da câmera para a cena e seguindo seus ricochetes.</a:t>
            </a:r>
            <a:endParaRPr lang="en-US" sz="15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Cena: Cornell Box com 9 esferas — paredes difusas, uma esfera especular (espelho) e uma refrativa (vidro).</a:t>
            </a:r>
            <a:endParaRPr lang="en-US" sz="15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por Monte Carlo: amostragem estratificada 2×2 por pixel, 4·SPP amostras/pixel, roleta russa a partir da profundidade 5.</a:t>
            </a:r>
            <a:endParaRPr lang="en-US" sz="15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parametrizável: -w largura  -h altura  -s SPP.  Custo O(w · h · spp).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549640" y="2148840"/>
            <a:ext cx="3108960" cy="3749040"/>
          </a:xfrm>
          <a:prstGeom prst="roundRect">
            <a:avLst>
              <a:gd name="adj" fmla="val 2353"/>
            </a:avLst>
          </a:prstGeom>
          <a:solidFill>
            <a:srgbClr val="0B213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869680" y="2423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ESTE PROGRAMA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869680" y="2834640"/>
            <a:ext cx="2514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T₁ ≈ 54 s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2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janela de 30–60 s exigida</a:t>
            </a:r>
            <a:endParaRPr lang="en-US" sz="2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laço externo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2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independente por linha da imagem</a:t>
            </a:r>
            <a:endParaRPr lang="en-US" sz="2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trivial</a:t>
            </a:r>
            <a:endParaRPr lang="en-US" sz="2600" dirty="0"/>
          </a:p>
          <a:p>
            <a:pPr indent="0" marL="0">
              <a:buNone/>
            </a:pPr>
            <a:r>
              <a:rPr lang="en-US" sz="12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materiais, reflexão, refração, recursão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85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7498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EXECUÇÃO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09728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o tempo é gasto — e o teto de Amdahl</a:t>
            </a:r>
            <a:endParaRPr lang="en-US" sz="3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68680" y="2148840"/>
          <a:ext cx="65379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726680" y="2148840"/>
            <a:ext cx="393192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2377440"/>
            <a:ext cx="34290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radiance + suas chamadas = 98,2%</a:t>
            </a:r>
            <a:endParaRPr lang="en-US" sz="15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(setup + checksum) = 1,75%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Fração paralelizável  f ≈ 0,982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S_max(6)  ≈  5,51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S_max(12) ≈ 10,00</a:t>
            </a:r>
            <a:endParaRPr lang="en-US" sz="15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S_inf = 1/(1−f) ≈ 55,6</a:t>
            </a:r>
            <a:endParaRPr lang="en-US" sz="1500" dirty="0"/>
          </a:p>
          <a:p>
            <a:pPr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binário -O3, time_par / time_s da versão sequencial = 0,99998 → a parcela serial da fase medida é desprezível.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85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7498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DE PARALELIZAÇÃO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09728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Unidade de trabalho: uma linha da imagem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914400" y="2194560"/>
            <a:ext cx="525780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248716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81328" y="239572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Laço externo em 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81328" y="2798064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iterações (h = 600). Cada linha é uma tarefa; o laço interno varre os w pixels.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37960" y="2194560"/>
            <a:ext cx="525780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12280" y="248716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04888" y="239572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Escrita disjunta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104888" y="2798064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iteração grava só na faixa c[y·w + x]. Sem acumulador compartilhado → dispensa atomic, critical e reduction no caminho quente.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4251960"/>
            <a:ext cx="525780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" y="454456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481328" y="445312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RNG privado por linha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4855464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xorshift64 declarado no corpo do laço (private por construção). Semente = seed ⊕ ((y+1)·φ) → saída independente do nº de threads.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37960" y="4251960"/>
            <a:ext cx="525780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12280" y="454456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04888" y="445312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104888" y="4855464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checksum RGB idêntico de 1 a 12 threads e em todas as políticas de escalonamento.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85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7498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DIRETIVAS OPENMP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09728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cláusulas e o porquê de cada uma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6400800" cy="3566160"/>
          </a:xfrm>
          <a:prstGeom prst="roundRect">
            <a:avLst>
              <a:gd name="adj" fmla="val 1538"/>
            </a:avLst>
          </a:prstGeom>
          <a:solidFill>
            <a:srgbClr val="1232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34440" y="2331720"/>
            <a:ext cx="5760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9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#pragma omp parallel default(none) \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9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shared(a, c, cam_o, cam_d, cx, cy,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9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stat, threads_used)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9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9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#pragma omp for schedule(runtime) nowait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9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(int y = 0; y &lt; a.h; ++y) {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9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Rng rng;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9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rng.s = a.seed ^ ((y+1)*0x9E37...);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9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x = 0; x &lt; a.w; ++x) { ... }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9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9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635240" y="2377440"/>
            <a:ext cx="4069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default(none) — obriga listar o escopo de cada variável; expõe qualquer coisa que esqueceu de virar private.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— só entradas (a, cam_*, cx, cy), o buffer c (escrita disjunta) e stat[tid] com padding de 64 B contra falso compartilhamento.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schedule(runtime) — política vem de OMP_SCHEDULE; compara static / dynamic / guided sem recompilar.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nowait — sem a barreira do for, o perfil por thread reflete a carga real, não a espera. Seguro: c não é lido depois do laço.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85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7498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EMPÍRICA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0972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políticas testadas · 12 threads · 10 execuções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2194560"/>
          <a:ext cx="6126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1234440"/>
                <a:gridCol w="123444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Política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1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Mediana (s)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1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(s)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1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(s)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13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9,556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7,573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11,779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static, 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8,389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7,425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10,494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static,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7,658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8,287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7,933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dynamic, 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7,199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7,157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7,608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dynamic, 4  ← adotada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7,164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7,354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7,385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0" y="2194560"/>
            <a:ext cx="4343400" cy="361188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589520" y="2450592"/>
            <a:ext cx="3840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dynamic, 4</a:t>
            </a:r>
            <a:endParaRPr lang="en-US" sz="160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mediana (7,16 s) e menor dispersão (7,01–7,35 s).</a:t>
            </a:r>
            <a:endParaRPr lang="en-US" sz="160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sem chunk: muito volátil neste ambiente (7,57–11,78 s).</a:t>
            </a:r>
            <a:endParaRPr lang="en-US" sz="160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Causa: no WSL2 uma thread pode ser preemptada pelo SO. Em static o bloco fixo trava o programa; dynamic,4 redistribui blocos e absorve o atraso.</a:t>
            </a:r>
            <a:endParaRPr lang="en-US" sz="1600" dirty="0"/>
          </a:p>
          <a:p>
            <a:pPr marL="127000" indent="-127000">
              <a:buSzPct val="100000"/>
              <a:buChar char="•"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Desbalanceamento interno do algoritmo &lt; 1% — a robustez à preempção é o fator decisivo.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85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7498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ESCALABILIDADE FORTE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0972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Speed-up: acompanha Amdahl até 6 threads</a:t>
            </a:r>
            <a:endParaRPr lang="en-US" sz="3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68680" y="2103120"/>
          <a:ext cx="68580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001000" y="2103120"/>
            <a:ext cx="3657600" cy="4297680"/>
          </a:xfrm>
          <a:prstGeom prst="roundRect">
            <a:avLst>
              <a:gd name="adj" fmla="val 1750"/>
            </a:avLst>
          </a:prstGeom>
          <a:solidFill>
            <a:srgbClr val="0B213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75320" y="2377440"/>
            <a:ext cx="3154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threads</a:t>
            </a:r>
            <a:endParaRPr lang="en-US" sz="20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2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speed-up 4,93 · eficiência 82,2%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threads</a:t>
            </a:r>
            <a:endParaRPr lang="en-US" sz="20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2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speed-up 7,44 · eficiência 62,0%</a:t>
            </a:r>
            <a:endParaRPr lang="en-US" sz="20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F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 6 threads o SMT entra: 2 threads por núcleo disputam as unidades de ponto flutuante. 7,44 &lt; S_max(12) ≈ 10 → a saturação é SMT + preempção, não a fração serial.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85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7498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ESCALABILIDADE FRACA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0972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Eficiência: ambas quebram ao entrar no SMT</a:t>
            </a:r>
            <a:endParaRPr lang="en-US" sz="3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68680" y="2103120"/>
          <a:ext cx="68580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001000" y="2103120"/>
            <a:ext cx="3657600" cy="4297680"/>
          </a:xfrm>
          <a:prstGeom prst="roundRect">
            <a:avLst>
              <a:gd name="adj" fmla="val 175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75320" y="2331720"/>
            <a:ext cx="31546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Regra: spp = 32 · p</a:t>
            </a:r>
            <a:endParaRPr lang="en-US" sz="13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total cresce com p (custo linear em spp)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4 threads: quase horizontal (55,6 → 58,6 s).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threads: 67,7 s (82,2% — igual à forte).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threads: 124 s (44,8%). Duas cargas completas por núcleo; esperado ≈ 2·67,7 ≈ 135 s — o SMT recupera ~8%.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curvas quebram no mesmo ponto: a causa é a topologia, não o algoritmo.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206240"/>
            <a:ext cx="4754880" cy="4754880"/>
          </a:xfrm>
          <a:prstGeom prst="ellipse">
            <a:avLst/>
          </a:prstGeom>
          <a:solidFill>
            <a:srgbClr val="1232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23444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54 s para 7,3 s numa máquina que já temos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68680" y="274320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1232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2926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7,44×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3657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speed-up em 12 threads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274320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1232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46320" y="2926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82,2%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3657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em 6 núcleos físicos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75320" y="274320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12324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549640" y="2926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dynamic, 4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549640" y="3657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escolhida por medição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70916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saturação acima de 6 threads é SMT (unidades de FP compartilhadas) somado à preempção do WSL2 — não a fração sequencial (f = 0,982, S_max(12) ≈ 10).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Corretude validada: checksum RGB idêntico de 1 a 12 threads e em todas as 7 políticas de escalonamento.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reproduzível: make all + scripts/run_all.sh + scripts/plot.py.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2026-09-08T22:53:57Z</dcterms:created>
  <dcterms:modified xsi:type="dcterms:W3CDTF">2026-09-08T22:53:57Z</dcterms:modified>
</cp:coreProperties>
</file>