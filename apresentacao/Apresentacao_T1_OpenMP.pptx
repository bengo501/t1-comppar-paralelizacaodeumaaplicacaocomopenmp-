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5" r:id="rId16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5.xml"/><Relationship Id="rId5" Type="http://schemas.openxmlformats.org/officeDocument/2006/relationships/slide" Target="slides/slide6.xml"/><Relationship Id="rId6" Type="http://schemas.openxmlformats.org/officeDocument/2006/relationships/slide" Target="slides/slide7.xml"/><Relationship Id="rId7" Type="http://schemas.openxmlformats.org/officeDocument/2006/relationships/slide" Target="slides/slide8.xml"/><Relationship Id="rId8" Type="http://schemas.openxmlformats.org/officeDocument/2006/relationships/slide" Target="slides/slide9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openxmlformats.org/officeDocument/2006/relationships/slide" Target="slides/slide3.xml"/><Relationship Id="rId17" Type="http://schemas.openxmlformats.org/officeDocument/2006/relationships/slide" Target="slides/slide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% tempo próprio (self)</c:v>
                </c:pt>
              </c:strCache>
            </c:strRef>
          </c:tx>
          <c:spPr>
            <a:solidFill>
              <a:srgbClr val="1C7293"/>
            </a:solidFill>
            <a:effectLst/>
          </c:spPr>
          <c:invertIfNegative val="0"/>
          <c:dLbls>
            <c:numFmt formatCode="0.0&quot;%&quot;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1E2933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main</c:v>
                  </c:pt>
                  <c:pt idx="1">
                    <c:v>v_add</c:v>
                  </c:pt>
                  <c:pt idx="2">
                    <c:v>v_scl</c:v>
                  </c:pt>
                  <c:pt idx="3">
                    <c:v>intersect_scene</c:v>
                  </c:pt>
                  <c:pt idx="4">
                    <c:v>v_sub</c:v>
                  </c:pt>
                  <c:pt idx="5">
                    <c:v>v_norm</c:v>
                  </c:pt>
                  <c:pt idx="6">
                    <c:v>v_ (construtor)</c:v>
                  </c:pt>
                  <c:pt idx="7">
                    <c:v>v_dot</c:v>
                  </c:pt>
                  <c:pt idx="8">
                    <c:v>radiance</c:v>
                  </c:pt>
                  <c:pt idx="9">
                    <c:v>sphere_intersect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1.75</c:v>
                </c:pt>
                <c:pt idx="1">
                  <c:v>2.61</c:v>
                </c:pt>
                <c:pt idx="2">
                  <c:v>4.19</c:v>
                </c:pt>
                <c:pt idx="3">
                  <c:v>5.08</c:v>
                </c:pt>
                <c:pt idx="4">
                  <c:v>6.59</c:v>
                </c:pt>
                <c:pt idx="5">
                  <c:v>7.72</c:v>
                </c:pt>
                <c:pt idx="6">
                  <c:v>10.5</c:v>
                </c:pt>
                <c:pt idx="7">
                  <c:v>11.93</c:v>
                </c:pt>
                <c:pt idx="8">
                  <c:v>14.02</c:v>
                </c:pt>
                <c:pt idx="9">
                  <c:v>31.24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b="0" i="0" strike="noStrike" sz="900" u="none">
                  <a:solidFill>
                    <a:srgbClr val="1E2933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1E2933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5"/>
          <c:min val="0"/>
        </c:scaling>
        <c:delete val="0"/>
        <c:axPos val="b"/>
        <c:majorGridlines>
          <c:spPr>
            <a:ln w="1270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Speed-up medido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</c:v>
                </c:pt>
                <c:pt idx="1">
                  <c:v>1.9</c:v>
                </c:pt>
                <c:pt idx="2">
                  <c:v>3.31</c:v>
                </c:pt>
                <c:pt idx="3">
                  <c:v>4.93</c:v>
                </c:pt>
                <c:pt idx="4">
                  <c:v>6.14</c:v>
                </c:pt>
                <c:pt idx="5">
                  <c:v>7.3</c:v>
                </c:pt>
                <c:pt idx="6">
                  <c:v>7.44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Ideal (y = p)</c:v>
                </c:pt>
              </c:strCache>
            </c:strRef>
          </c:tx>
          <c:spPr>
            <a:solidFill>
              <a:srgbClr val="AEB9C4"/>
            </a:solidFill>
            <a:ln w="38100" cap="flat">
              <a:solidFill>
                <a:srgbClr val="AEB9C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AEB9C4"/>
              </a:solidFill>
              <a:ln w="9525" cap="flat">
                <a:solidFill>
                  <a:srgbClr val="AEB9C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</c:v>
                </c:pt>
                <c:pt idx="1">
                  <c:v>2</c:v>
                </c:pt>
                <c:pt idx="2">
                  <c:v>4</c:v>
                </c:pt>
                <c:pt idx="3">
                  <c:v>6</c:v>
                </c:pt>
                <c:pt idx="4">
                  <c:v>8</c:v>
                </c:pt>
                <c:pt idx="5">
                  <c:v>10</c:v>
                </c:pt>
                <c:pt idx="6">
                  <c:v>12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C6B7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C6B7A"/>
                    </a:solidFill>
                    <a:latin typeface="Arial"/>
                  </a:rPr>
                  <a:t>threads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2"/>
          <c:min val="0"/>
        </c:scaling>
        <c:delete val="0"/>
        <c:axPos val="l"/>
        <c:majorGridlines>
          <c:spPr>
            <a:ln w="12700" cap="flat">
              <a:solidFill>
                <a:srgbClr val="D9E2EC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E293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Forte  T₁/(p·Tₚ)</c:v>
                </c:pt>
              </c:strCache>
            </c:strRef>
          </c:tx>
          <c:spPr>
            <a:solidFill>
              <a:srgbClr val="1C7293"/>
            </a:solidFill>
            <a:ln w="38100" cap="flat">
              <a:solidFill>
                <a:srgbClr val="1C7293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1C7293"/>
              </a:solidFill>
              <a:ln w="9525" cap="flat">
                <a:solidFill>
                  <a:srgbClr val="1C7293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100</c:v>
                </c:pt>
                <c:pt idx="1">
                  <c:v>94.9</c:v>
                </c:pt>
                <c:pt idx="2">
                  <c:v>82.8</c:v>
                </c:pt>
                <c:pt idx="3">
                  <c:v>82.2</c:v>
                </c:pt>
                <c:pt idx="4">
                  <c:v>76.8</c:v>
                </c:pt>
                <c:pt idx="5">
                  <c:v>73</c:v>
                </c:pt>
                <c:pt idx="6">
                  <c:v>62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Fraca  T₁/Tₚ</c:v>
                </c:pt>
              </c:strCache>
            </c:strRef>
          </c:tx>
          <c:spPr>
            <a:solidFill>
              <a:srgbClr val="02C39A"/>
            </a:solidFill>
            <a:ln w="38100" cap="flat">
              <a:solidFill>
                <a:srgbClr val="02C39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7"/>
            <c:spPr>
              <a:solidFill>
                <a:srgbClr val="02C39A"/>
              </a:solidFill>
              <a:ln w="9525" cap="flat">
                <a:solidFill>
                  <a:srgbClr val="02C39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Sheet1!$A$2:$A$8</c:f>
              <c:multiLvlStrCache>
                <c:ptCount val="7"/>
                <c:lvl>
                  <c:pt idx="0">
                    <c:v>1</c:v>
                  </c:pt>
                  <c:pt idx="1">
                    <c:v>2</c:v>
                  </c:pt>
                  <c:pt idx="2">
                    <c:v>4</c:v>
                  </c:pt>
                  <c:pt idx="3">
                    <c:v>6</c:v>
                  </c:pt>
                  <c:pt idx="4">
                    <c:v>8</c:v>
                  </c:pt>
                  <c:pt idx="5">
                    <c:v>10</c:v>
                  </c:pt>
                  <c:pt idx="6">
                    <c:v>12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100</c:v>
                </c:pt>
                <c:pt idx="1">
                  <c:v>98.6</c:v>
                </c:pt>
                <c:pt idx="2">
                  <c:v>95</c:v>
                </c:pt>
                <c:pt idx="3">
                  <c:v>82.2</c:v>
                </c:pt>
                <c:pt idx="4">
                  <c:v>61</c:v>
                </c:pt>
                <c:pt idx="5">
                  <c:v>51.2</c:v>
                </c:pt>
                <c:pt idx="6">
                  <c:v>44.8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b="0" i="0" u="none" strike="noStrike">
                    <a:solidFill>
                      <a:srgbClr val="5C6B7A"/>
                    </a:solidFill>
                    <a:latin typeface="Arial"/>
                  </a:defRPr>
                </a:pPr>
                <a:r>
                  <a:rPr b="0" i="0" u="none" strike="noStrike">
                    <a:solidFill>
                      <a:srgbClr val="5C6B7A"/>
                    </a:solidFill>
                    <a:latin typeface="Arial"/>
                  </a:rPr>
                  <a:t>threads</a:t>
                </a:r>
              </a:p>
            </c:rich>
          </c:tx>
          <c:layout/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E2933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0"/>
        <c:axPos val="l"/>
        <c:majorGridlines>
          <c:spPr>
            <a:ln w="12700" cap="flat">
              <a:solidFill>
                <a:srgbClr val="D9E2EC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C6B7A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1E2933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Relationship Id="rId4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418320" y="-1920240"/>
            <a:ext cx="5120640" cy="5120640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10881360" y="4023360"/>
            <a:ext cx="3108960" cy="3108960"/>
          </a:xfrm>
          <a:prstGeom prst="ellipse">
            <a:avLst/>
          </a:prstGeom>
          <a:solidFill>
            <a:srgbClr val="1C7293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0515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T1  ·  COMPUTAÇÃO PARALELA  ·  UNIDADE 03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1600200"/>
            <a:ext cx="1024128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Paralelização de uma aplicação</a:t>
            </a:r>
            <a:endParaRPr lang="en-US" sz="46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OpenMP</a:t>
            </a:r>
            <a:endParaRPr lang="en-US" sz="4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886200"/>
            <a:ext cx="9875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path tracer estilo smallpt (Kevin Beason), reescrito em C11 (padrao ISO da linguagem C de 2011) — renderização Monte Carlo de uma Cornell Box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21208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Bernardo Klein Heitz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557784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B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 Ryzen 5 3600 (6 núcleos / 12 threads)  ·  gcc 11.4  ·  Ubuntu 22.04 (WSL2)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82296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0"/>
              </a:spcAft>
              <a:buNone/>
            </a:pPr>
            <a:r>
              <a:rPr sz="2400" b="1">
                <a:solidFill>
                  <a:srgbClr val="0B2138"/>
                </a:solidFill>
                <a:latin typeface="Cambria"/>
              </a:rPr>
              <a:t>1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7498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APLICAÇÃO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09728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é o smallpt</a:t>
            </a:r>
            <a:endParaRPr lang="en-US" sz="3400" dirty="0"/>
          </a:p>
        </p:txBody>
      </p:sp>
      <p:sp>
        <p:nvSpPr>
          <p:cNvPr id="6" name="TextBox 5"/>
          <p:cNvSpPr txBox="1"/>
          <p:nvPr/>
        </p:nvSpPr>
        <p:spPr>
          <a:xfrm>
            <a:off x="822960" y="1980000"/>
            <a:ext cx="52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400" b="0">
                <a:solidFill>
                  <a:srgbClr val="1E2933"/>
                </a:solidFill>
                <a:latin typeface="Calibri"/>
              </a:rPr>
              <a:t>path tracer mínimo do kevin beason (2008), reescrito em c11 (padrao iso da linguagem c de 2011). não é um motor de jogos: é um integrador de luz.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3"/>
                </a:solidFill>
                <a:latin typeface="Calibri"/>
              </a:rPr>
              <a:t>para cada pixel, o programa dispara raios da câmera, deixa ricochetear na cena e soma a cor da luz que o caminho coletou. um único caminho é ruidoso; a média de muitos caminhos vira a imagem.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1E2933"/>
                </a:solidFill>
                <a:latin typeface="Calibri"/>
              </a:rPr>
              <a:t>a cena é a cornell box: parede vermelha, parede azul, esfera de espelho, esfera de vidro e luz no teto. as “paredes” são esferas gigantes.</a:t>
            </a:r>
          </a:p>
          <a:p>
            <a:pPr>
              <a:spcAft>
                <a:spcPts val="0"/>
              </a:spcAft>
            </a:pPr>
            <a:r>
              <a:rPr sz="1400" b="0">
                <a:solidFill>
                  <a:srgbClr val="1E2933"/>
                </a:solidFill>
                <a:latin typeface="Calibri"/>
              </a:rPr>
              <a:t>entrada: -w largura, -h altura, -s spp (amostras por subpixel). custo proporcional a w · h · spp. referência: 800×600, spp=32 → T1 ≈ 54 s.</a:t>
            </a:r>
          </a:p>
        </p:txBody>
      </p:sp>
      <p:pic>
        <p:nvPicPr>
          <p:cNvPr id="7" name="Picture 6" descr="17_render_referencia_800x600_spp3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00000" y="1980000"/>
            <a:ext cx="5400000" cy="32000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6200000" y="5300000"/>
            <a:ext cx="5400000" cy="1200000"/>
          </a:xfrm>
          <a:prstGeom prst="roundRect">
            <a:avLst>
              <a:gd name="adj" fmla="val 8000"/>
            </a:avLst>
          </a:prstGeom>
          <a:solidFill>
            <a:srgbClr val="0B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000" y="5420000"/>
            <a:ext cx="5000000" cy="1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por que este programa    T1 ≈ 54 s    1 laço por linha    não trivial (espelho, vidro, monte carlo)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685800"/>
            <a:ext cx="566928" cy="56692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B2138"/>
                </a:solidFill>
                <a:latin typeface="Cambria"/>
              </a:rPr>
              <a:t>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749808"/>
            <a:ext cx="980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A APLICAÇÃO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097280"/>
            <a:ext cx="1024128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1E2933"/>
                </a:solidFill>
                <a:latin typeface="Cambria"/>
              </a:rPr>
              <a:t>Como um pixel ganha cor</a:t>
            </a:r>
          </a:p>
        </p:txBody>
      </p:sp>
      <p:pic>
        <p:nvPicPr>
          <p:cNvPr id="6" name="Picture 5" descr="04_path_tracing_rotul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0000" y="1980000"/>
            <a:ext cx="6400000" cy="44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00000" y="1980000"/>
            <a:ext cx="4400000" cy="4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1">
                <a:solidFill>
                  <a:srgbClr val="1E2933"/>
                </a:solidFill>
                <a:latin typeface="Cambria"/>
              </a:rPr>
              <a:t>path tracing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E2933"/>
                </a:solidFill>
                <a:latin typeface="Calibri"/>
              </a:rPr>
              <a:t>o raio sai da câmera, atravessa um pixel da imagem e rebate na cena. em parede difusa o próximo rumo é aleatório; no espelho reflete; no vidro pode refratar. a cor do pixel é a luz acumulada nesse caminho.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E2933"/>
                </a:solidFill>
                <a:latin typeface="Cambria"/>
              </a:rPr>
              <a:t>monte carlo</a:t>
            </a:r>
          </a:p>
          <a:p>
            <a:pPr>
              <a:spcAft>
                <a:spcPts val="1000"/>
              </a:spcAft>
            </a:pPr>
            <a:r>
              <a:rPr sz="1300" b="0">
                <a:solidFill>
                  <a:srgbClr val="1E2933"/>
                </a:solidFill>
                <a:latin typeface="Calibri"/>
              </a:rPr>
              <a:t>estima um integral difícil (a luz que chega no pixel) pela média de amostras aleatórias. um caminho só é uma amostra ruim; milhares no mesmo pixel convergem para a imagem certa.</a:t>
            </a:r>
          </a:p>
          <a:p>
            <a:pPr>
              <a:spcAft>
                <a:spcPts val="400"/>
              </a:spcAft>
            </a:pPr>
            <a:r>
              <a:rPr sz="1600" b="1">
                <a:solidFill>
                  <a:srgbClr val="1E2933"/>
                </a:solidFill>
                <a:latin typeface="Cambria"/>
              </a:rPr>
              <a:t>-w  -h  -s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933"/>
                </a:solidFill>
                <a:latin typeface="Calibri"/>
              </a:rPr>
              <a:t>-w = largura em pixels. -h = altura. -s = spp = amostras por subpixel (há 2×2 subpixels, então 4·spp caminhos por pixel). dobrar o spp dobra o tempo.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822960" y="685800"/>
            <a:ext cx="566928" cy="566928"/>
          </a:xfrm>
          <a:prstGeom prst="ellipse">
            <a:avLst/>
          </a:prstGeom>
          <a:solidFill>
            <a:srgbClr val="02C3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685800"/>
            <a:ext cx="566928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2400" b="1">
                <a:solidFill>
                  <a:srgbClr val="0B2138"/>
                </a:solidFill>
                <a:latin typeface="Cambria"/>
              </a:rPr>
              <a:t>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600200" y="749808"/>
            <a:ext cx="9800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1200" b="1">
                <a:solidFill>
                  <a:srgbClr val="1C7293"/>
                </a:solidFill>
                <a:latin typeface="Calibri"/>
              </a:rPr>
              <a:t>A APLICAÇÃO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097280"/>
            <a:ext cx="10241280" cy="8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</a:pPr>
            <a:r>
              <a:rPr sz="2600" b="1">
                <a:solidFill>
                  <a:srgbClr val="1E2933"/>
                </a:solidFill>
                <a:latin typeface="Cambria"/>
              </a:rPr>
              <a:t>Isto é renderização: mais amostras, menos ruído</a:t>
            </a:r>
          </a:p>
        </p:txBody>
      </p:sp>
      <p:pic>
        <p:nvPicPr>
          <p:cNvPr id="6" name="Picture 5" descr="render_spp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950000"/>
            <a:ext cx="3500000" cy="28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0000" y="4800000"/>
            <a:ext cx="35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E2933"/>
                </a:solidFill>
                <a:latin typeface="Cambria"/>
              </a:rPr>
              <a:t>spp = 1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933"/>
                </a:solidFill>
                <a:latin typeface="Calibri"/>
              </a:rPr>
              <a:t>4 caminhos/pixel. quase só ruído: a média ainda não estabilizou.</a:t>
            </a:r>
          </a:p>
        </p:txBody>
      </p:sp>
      <p:pic>
        <p:nvPicPr>
          <p:cNvPr id="8" name="Picture 7" descr="render_spp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00000" y="1950000"/>
            <a:ext cx="3500000" cy="28000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00000" y="4800000"/>
            <a:ext cx="35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E2933"/>
                </a:solidFill>
                <a:latin typeface="Cambria"/>
              </a:rPr>
              <a:t>spp = 4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933"/>
                </a:solidFill>
                <a:latin typeface="Calibri"/>
              </a:rPr>
              <a:t>16 caminhos/pixel. a sala aparece, mas o granulado continua forte.</a:t>
            </a:r>
          </a:p>
        </p:txBody>
      </p:sp>
      <p:pic>
        <p:nvPicPr>
          <p:cNvPr id="10" name="Picture 9" descr="render_spp3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0000" y="1950000"/>
            <a:ext cx="3500000" cy="28000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000000" y="4800000"/>
            <a:ext cx="35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E2933"/>
                </a:solidFill>
                <a:latin typeface="Cambria"/>
              </a:rPr>
              <a:t>spp = 32  (referência)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933"/>
                </a:solidFill>
                <a:latin typeface="Calibri"/>
              </a:rPr>
              <a:t>128 caminhos/pixel. mesma entrada do relatório. T1 ≈ 54 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82296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0"/>
              </a:spcAft>
              <a:buNone/>
            </a:pPr>
            <a:r>
              <a:rPr sz="2400" b="1">
                <a:solidFill>
                  <a:srgbClr val="0B2138"/>
                </a:solidFill>
                <a:latin typeface="Cambria"/>
              </a:rPr>
              <a:t>4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7498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DE EXECUÇÃO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0972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0"/>
              </a:spcAft>
              <a:buNone/>
            </a:pPr>
            <a:r>
              <a:rPr sz="2600" b="1">
                <a:solidFill>
                  <a:srgbClr val="1E2933"/>
                </a:solidFill>
                <a:latin typeface="Cambria"/>
              </a:rPr>
              <a:t>Onde paralelizar — teto de Amdahl</a:t>
            </a:r>
            <a:endParaRPr lang="en-US" sz="3400" dirty="0"/>
          </a:p>
        </p:txBody>
      </p:sp>
      <p:pic>
        <p:nvPicPr>
          <p:cNvPr id="6" name="Picture 5" descr="13_gprof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0000" y="1900000"/>
            <a:ext cx="5800000" cy="460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00000" y="1900000"/>
            <a:ext cx="5200000" cy="46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00000" y="2000000"/>
            <a:ext cx="48500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C7293"/>
                </a:solidFill>
                <a:latin typeface="Cambria"/>
              </a:rPr>
              <a:t>o que o gráfico mostra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E2933"/>
                </a:solidFill>
                <a:latin typeface="Calibri"/>
              </a:rPr>
              <a:t>tempo próprio do gprof na versão sequencial. quase tudo (interseção, vetores, radiance, rng) é chamado de dentro do laço em y. só o main (~1,8%) fica de fora: setup e checksum.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C7293"/>
                </a:solidFill>
                <a:latin typeface="Cambria"/>
              </a:rPr>
              <a:t>o que é o teto de amdahl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E2933"/>
                </a:solidFill>
                <a:latin typeface="Calibri"/>
              </a:rPr>
              <a:t>se uma fração f é paralelizada e 1−f permanece serial, o speed-up com p threads não passa de S(p) = 1 / ((1−f) + f/p). a parte serial não encolhe, por mais threads que se coloque.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1E2933"/>
                </a:solidFill>
                <a:latin typeface="Calibri"/>
              </a:rPr>
              <a:t>aqui f ≈ 0,982. teto em 6 threads ≈ 5,51; em 12 ≈ 10; com infinitas threads S∞ = 1/(1−f) ≈ 55,6. medimos 7,44× em 12 — abaixo de 10. a saturação não é essa fração serial.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82296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0"/>
              </a:spcAft>
              <a:buNone/>
            </a:pPr>
            <a:r>
              <a:rPr sz="2400" b="1">
                <a:solidFill>
                  <a:srgbClr val="0B2138"/>
                </a:solidFill>
                <a:latin typeface="Cambria"/>
              </a:rPr>
              <a:t>5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7498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ESTRATÉGIA DE PARALELIZAÇÃO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0972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Unidade de trabalho: uma linha da imagem</a:t>
            </a:r>
            <a:endParaRPr lang="en-US" sz="3400" dirty="0"/>
          </a:p>
        </p:txBody>
      </p:sp>
      <p:pic>
        <p:nvPicPr>
          <p:cNvPr id="6" name="Picture 5" descr="11_eixo_paralelism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0000" y="1850000"/>
            <a:ext cx="11600000" cy="28000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0000" y="4700000"/>
            <a:ext cx="54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E2933"/>
                </a:solidFill>
                <a:latin typeface="Cambria"/>
              </a:rPr>
              <a:t>static (esquerda)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933"/>
                </a:solidFill>
                <a:latin typeface="Calibri"/>
              </a:rPr>
              <a:t>parte a imagem em faixas contíguas e fixas. a thread 0 fica com o chão (y=0), a última com o teto. se uma thread atrasa — no wsl2 isso acontece por preempção — o bloco inteiro dela trava e as outras não pegam o trabalho dela.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00000" y="4700000"/>
            <a:ext cx="5400000" cy="1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E2933"/>
                </a:solidFill>
                <a:latin typeface="Cambria"/>
              </a:rPr>
              <a:t>dynamic,4 (direita)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1E2933"/>
                </a:solidFill>
                <a:latin typeface="Calibri"/>
              </a:rPr>
              <a:t>as linhas entram num estoque comum em blocos de 4. a thread que termina pega o próximo bloco. o atraso de uma é absorvido pelas outras. foi a política adotada. cada linha continua independente: escrita só em c[y·w+x], rng privado, sem atomic.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82296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0"/>
              </a:spcAft>
              <a:buNone/>
            </a:pPr>
            <a:r>
              <a:rPr sz="2400" b="1">
                <a:solidFill>
                  <a:srgbClr val="0B2138"/>
                </a:solidFill>
                <a:latin typeface="Cambria"/>
              </a:rPr>
              <a:t>6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7498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DIRETIVAS OPENMP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097280"/>
            <a:ext cx="102412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cláusulas e o porquê de cada uma</a:t>
            </a:r>
            <a:endParaRPr lang="en-US" sz="3400" dirty="0"/>
          </a:p>
        </p:txBody>
      </p:sp>
      <p:sp>
        <p:nvSpPr>
          <p:cNvPr id="6" name="Shape 4"/>
          <p:cNvSpPr/>
          <p:nvPr/>
        </p:nvSpPr>
        <p:spPr>
          <a:xfrm>
            <a:off x="868680" y="2331720"/>
            <a:ext cx="6400800" cy="3566160"/>
          </a:xfrm>
          <a:prstGeom prst="roundRect">
            <a:avLst>
              <a:gd name="adj" fmla="val 1538"/>
            </a:avLst>
          </a:prstGeom>
          <a:solidFill>
            <a:srgbClr val="12324F"/>
          </a:solidFill>
          <a:ln/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1234440" y="2331720"/>
            <a:ext cx="57607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9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#pragma omp parallel default(none) \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9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shared(a, c, cam_o, cam_d, cx, cy,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9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     stat, threads_used)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9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{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9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#pragma omp for schedule(runtime) nowait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9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for (int y = 0; y &lt; a.h; ++y) {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9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Rng rng;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9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rng.s = a.seed ^ ((y+1)*0x9E37...);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9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for (int x = 0; x &lt; a.w; ++x) { ... }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9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}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D9E2E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}</a:t>
            </a:r>
            <a:endParaRPr lang="en-US" sz="1350" dirty="0"/>
          </a:p>
        </p:txBody>
      </p:sp>
      <p:sp>
        <p:nvSpPr>
          <p:cNvPr id="8" name="Text 6"/>
          <p:cNvSpPr txBox="1"/>
          <p:nvPr/>
        </p:nvSpPr>
        <p:spPr>
          <a:xfrm>
            <a:off x="7635240" y="2377440"/>
            <a:ext cx="406908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sz="1300" b="1">
                <a:solidFill>
                  <a:srgbClr val="02C39A"/>
                </a:solidFill>
                <a:latin typeface="Calibri"/>
              </a:rPr>
              <a:t>default(none)</a:t>
            </a:r>
            <a:endParaRPr lang="en-US" sz="1350" dirty="0"/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obriga listar o escopo de cada variável. se algo deveria ser private e não foi declarado, o compilador recusa — não deixa a condição de corrida escondida.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shared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só entradas (a, câmera), o buffer c (cada thread escreve numa faixa disjunta) e stat[tid] com padding de 64 B contra falso compartilhamento.</a:t>
            </a:r>
          </a:p>
          <a:p>
            <a:pPr>
              <a:spcAft>
                <a:spcPts val="200"/>
              </a:spcAft>
            </a:pPr>
            <a:r>
              <a:rPr sz="1300" b="1">
                <a:solidFill>
                  <a:srgbClr val="02C39A"/>
                </a:solidFill>
                <a:latin typeface="Calibri"/>
              </a:rPr>
              <a:t>schedule(runtime) e nowait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a política vem de OMP_SCHEDULE, então comparamos static/dynamic/guided sem recompilar. nowait tira a barreira do for: o tempo por thread é a carga real. sem reduction: não há acumulador no laço quente; o checksum é depois.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82296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0"/>
              </a:spcAft>
              <a:buNone/>
            </a:pPr>
            <a:r>
              <a:rPr sz="2400" b="1">
                <a:solidFill>
                  <a:srgbClr val="0B2138"/>
                </a:solidFill>
                <a:latin typeface="Cambria"/>
              </a:rPr>
              <a:t>7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7498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 EMPÍRICA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0972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políticas testadas · 12 threads · 10 execuções</a:t>
            </a:r>
            <a:endParaRPr lang="en-US" sz="3400" dirty="0"/>
          </a:p>
        </p:txBody>
      </p:sp>
      <p:pic>
        <p:nvPicPr>
          <p:cNvPr id="6" name="Picture 5" descr="16_schedul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0000" y="1900000"/>
            <a:ext cx="6200000" cy="460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800000" y="1900000"/>
            <a:ext cx="4900000" cy="46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0" y="2000000"/>
            <a:ext cx="45500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C7293"/>
                </a:solidFill>
                <a:latin typeface="Cambria"/>
              </a:rPr>
              <a:t>o que o gráfico mostra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E2933"/>
                </a:solidFill>
                <a:latin typeface="Calibri"/>
              </a:rPr>
              <a:t>mediana de 10 execuções em 12 threads. a haste é o intervalo min–max. barra mais baixa e haste curta = mais rápido e mais estável.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C7293"/>
                </a:solidFill>
                <a:latin typeface="Cambria"/>
              </a:rPr>
              <a:t>por que dynamic,4 (verde)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E2933"/>
                </a:solidFill>
                <a:latin typeface="Calibri"/>
              </a:rPr>
              <a:t>menor mediana (7,16 s) e menor dispersão (7,01–7,35 s). static sem chunk é o pior e o mais volátil (7,57–11,78 s): no wsl2 uma thread preemptada trava o bloco fixo. dynamic,4 redistribui e absorve o atraso.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5C6B7A"/>
                </a:solidFill>
                <a:latin typeface="Calibri"/>
              </a:rPr>
              <a:t>o algoritmo em si desbalanceia &lt; 1% entre threads. o fator decisivo não é o espelho vs. o fundo: é a robustez à preempção do sistema.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82296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0"/>
              </a:spcAft>
              <a:buNone/>
            </a:pPr>
            <a:r>
              <a:rPr sz="2400" b="1">
                <a:solidFill>
                  <a:srgbClr val="0B2138"/>
                </a:solidFill>
                <a:latin typeface="Cambria"/>
              </a:rPr>
              <a:t>8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7498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ESCALABILIDADE FORTE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0972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Speed-up: acompanha Amdahl até 6 threads</a:t>
            </a:r>
            <a:endParaRPr lang="en-US" sz="3400" dirty="0"/>
          </a:p>
        </p:txBody>
      </p:sp>
      <p:pic>
        <p:nvPicPr>
          <p:cNvPr id="6" name="Picture 5" descr="14_speed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00" y="1880000"/>
            <a:ext cx="6800000" cy="460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00000" y="1880000"/>
            <a:ext cx="4300000" cy="4600000"/>
          </a:xfrm>
          <a:prstGeom prst="roundRect">
            <a:avLst>
              <a:gd name="adj" fmla="val 8000"/>
            </a:avLst>
          </a:prstGeom>
          <a:solidFill>
            <a:srgbClr val="0B21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0000" y="1980000"/>
            <a:ext cx="4000000" cy="4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02C39A"/>
                </a:solidFill>
                <a:latin typeface="Cambria"/>
              </a:rPr>
              <a:t>como ler o gráfico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eixo x = threads (1, 2, 4, 6, 8, 10, 12). linha cinza = speed-up ideal (y = p). azul = mediana medida. faixa clara = min/max das 10 execuções. linha pontilhada em 6 = início do smt.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2C39A"/>
                </a:solidFill>
                <a:latin typeface="Cambria"/>
              </a:rPr>
              <a:t>até 6 núcleos físicos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FFFFFF"/>
                </a:solidFill>
                <a:latin typeface="Calibri"/>
              </a:rPr>
              <a:t>speed-up 4,93 (teto de amdahl 5,51), eficiência 82,2%. a curva acompanha o ideal de perto.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02C39A"/>
                </a:solidFill>
                <a:latin typeface="Cambria"/>
              </a:rPr>
              <a:t>depois de 6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D9E2EC"/>
                </a:solidFill>
                <a:latin typeface="Calibri"/>
              </a:rPr>
              <a:t>duas threads no mesmo núcleo disputam ponto flutuante. em 12: 7,44× e 62%. 7,44 &lt; teto 10 → a quebra é smt, não a fração serial.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685800"/>
            <a:ext cx="566928" cy="566928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822960" y="68580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0"/>
              </a:spcAft>
              <a:buNone/>
            </a:pPr>
            <a:r>
              <a:rPr sz="2400" b="1">
                <a:solidFill>
                  <a:srgbClr val="0B2138"/>
                </a:solidFill>
                <a:latin typeface="Cambria"/>
              </a:rPr>
              <a:t>9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1600200" y="749808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1C729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· ESCALABILIDADE FRACA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1600200" y="109728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E29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Eficiência: ambas quebram ao entrar no SMT</a:t>
            </a:r>
            <a:endParaRPr lang="en-US" sz="3400" dirty="0"/>
          </a:p>
        </p:txBody>
      </p:sp>
      <p:pic>
        <p:nvPicPr>
          <p:cNvPr id="6" name="Picture 5" descr="15_eficienci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0000" y="1880000"/>
            <a:ext cx="6800000" cy="4600000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7400000" y="1880000"/>
            <a:ext cx="4300000" cy="46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E3E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580000" y="1960000"/>
            <a:ext cx="4000000" cy="44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1C7293"/>
                </a:solidFill>
                <a:latin typeface="Cambria"/>
              </a:rPr>
              <a:t>como ler o gráfico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E2933"/>
                </a:solidFill>
                <a:latin typeface="Calibri"/>
              </a:rPr>
              <a:t>azul = eficiência da forte (trabalho fixo). amarelo = eficiência da fraca. 100% = o tempo não cresce ao colocar mais threads. a linha pontilhada em 6 marca o smt.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C7293"/>
                </a:solidFill>
                <a:latin typeface="Cambria"/>
              </a:rPr>
              <a:t>regra da fraca: spp = 32 · p</a:t>
            </a:r>
          </a:p>
          <a:p>
            <a:pPr>
              <a:spcAft>
                <a:spcPts val="800"/>
              </a:spcAft>
            </a:pPr>
            <a:r>
              <a:rPr sz="1200" b="0">
                <a:solidFill>
                  <a:srgbClr val="1E2933"/>
                </a:solidFill>
                <a:latin typeface="Calibri"/>
              </a:rPr>
              <a:t>w e h ficam 800×600. o spp cresce com as threads porque o custo é linear em spp. o trabalho por thread permanece ~constante.</a:t>
            </a:r>
          </a:p>
          <a:p>
            <a:pPr>
              <a:spcAft>
                <a:spcPts val="400"/>
              </a:spcAft>
            </a:pPr>
            <a:r>
              <a:rPr sz="1400" b="1">
                <a:solidFill>
                  <a:srgbClr val="1C7293"/>
                </a:solidFill>
                <a:latin typeface="Cambria"/>
              </a:rPr>
              <a:t>o que acontece</a:t>
            </a:r>
          </a:p>
          <a:p>
            <a:pPr>
              <a:spcAft>
                <a:spcPts val="0"/>
              </a:spcAft>
            </a:pPr>
            <a:r>
              <a:rPr sz="1200" b="0">
                <a:solidFill>
                  <a:srgbClr val="1E2933"/>
                </a:solidFill>
                <a:latin typeface="Calibri"/>
              </a:rPr>
              <a:t>até 4 threads a fraca quase horizontal (55,6 → 58,6 s). em 12: 124 s (44,8%). cada núcleo recebe duas cargas completas, então a fraca cai mais que a forte. as duas quebram no mesmo ponto: a máquina, não o algoritmo.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21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4206240"/>
            <a:ext cx="4754880" cy="4754880"/>
          </a:xfrm>
          <a:prstGeom prst="ellipse">
            <a:avLst/>
          </a:prstGeom>
          <a:solidFill>
            <a:srgbClr val="12324F"/>
          </a:solidFill>
          <a:ln/>
        </p:spPr>
        <p:txBody>
          <a:bodyPr/>
          <a:p/>
        </p:txBody>
      </p:sp>
      <p:sp>
        <p:nvSpPr>
          <p:cNvPr id="3" name="Text 1"/>
          <p:cNvSpPr txBox="1"/>
          <p:nvPr/>
        </p:nvSpPr>
        <p:spPr>
          <a:xfrm>
            <a:off x="868680" y="8686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CONCLUSÃO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234440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54 s para 7,3 s numa máquina que já temos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868680" y="274320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12324F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1143000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7,44×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1143000" y="3657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speed-up em 12 threads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0" y="274320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12324F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4846320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82,2%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4846320" y="3657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eficiência em 6 núcleos físicos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75320" y="2743200"/>
            <a:ext cx="3429000" cy="1600200"/>
          </a:xfrm>
          <a:prstGeom prst="roundRect">
            <a:avLst>
              <a:gd name="adj" fmla="val 4571"/>
            </a:avLst>
          </a:prstGeom>
          <a:solidFill>
            <a:srgbClr val="12324F"/>
          </a:solidFill>
          <a:ln/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8549640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dynamic, 4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8549640" y="36576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9E2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 escolhida por medição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68680" y="4709160"/>
            <a:ext cx="10607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800"/>
              </a:spcAft>
              <a:buSzPct val="100000"/>
              <a:buChar char="•"/>
            </a:pPr>
            <a:r>
              <a:rPr sz="1300" b="0">
                <a:solidFill>
                  <a:srgbClr val="D9E2EC"/>
                </a:solidFill>
                <a:latin typeface="Calibri"/>
              </a:rPr>
              <a:t>o que os números dizem: de 54 s para 7,3 s (7,44×) numa máquina que já temos. o ponto doce são os 6 núcleos físicos (82,2%). as 12 threads lógicas ainda ajudam, mas com eficiência 62%.</a:t>
            </a:r>
            <a:endParaRPr lang="en-US" sz="1300" dirty="0"/>
          </a:p>
          <a:p>
            <a:pPr>
              <a:spcAft>
                <a:spcPts val="800"/>
              </a:spcAft>
            </a:pPr>
            <a:r>
              <a:rPr sz="1300" b="0">
                <a:solidFill>
                  <a:srgbClr val="D9E2EC"/>
                </a:solidFill>
                <a:latin typeface="Calibri"/>
              </a:rPr>
              <a:t>a saturação não é amdahl. f = 0,982 permitiria ~10× em 12 threads; medimos 7,44×. a causa é smt (duas threads disputam o ponto flutuante no mesmo núcleo) somada à preempção do wsl2. por isso adotamos dynamic,4: redistribui blocos quando uma thread atrasa.</a:t>
            </a:r>
          </a:p>
          <a:p>
            <a:pPr>
              <a:spcAft>
                <a:spcPts val="0"/>
              </a:spcAft>
            </a:pPr>
            <a:r>
              <a:rPr sz="1300" b="0">
                <a:solidFill>
                  <a:srgbClr val="D9E2EC"/>
                </a:solidFill>
                <a:latin typeface="Calibri"/>
              </a:rPr>
              <a:t>a versão paralela é equivalente à sequencial (checksum rgb idêntico de 1 a 12 threads e nas 7 políticas). tudo reproduzível: make all, scripts/run_all.sh e scripts/plot.py.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2026-09-08T22:53:57Z</dcterms:created>
  <dcterms:modified xsi:type="dcterms:W3CDTF">2026-09-08T22:53:57Z</dcterms:modified>
</cp:coreProperties>
</file>