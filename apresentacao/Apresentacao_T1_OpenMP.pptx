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0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mover o slide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F6815AC-A930-4C8C-8BA3-7A9FC432BD32}" type="slidenum">
              <a:rPr lang="pt-BR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lang="pt-BR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4B769F3-4180-496E-A696-4482A827973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9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84B1689-2735-476E-B475-287755358CE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774F6E-0D4A-42AE-ADA2-FC84497AF6FA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2DDD8A8-1255-4E27-88DB-B452918B8EA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E954D67-D89A-4FA4-9D83-0AB006E873FB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AC3A49A5-B315-462E-A94F-0AF67B0B6D0C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7627BD6-4D63-4AF3-9E75-DF5E69E2D783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B61F209-D311-4403-8656-7B1411BFE067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>
              <a:buNone/>
            </a:pP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7A5EB86-6727-414E-9E66-5791DC602AD5}" type="slidenum">
              <a:rPr lang="en-US" sz="1200" b="0" u="none" strike="noStrik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lang="pt-BR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pt-BR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do texto do título</a:t>
            </a:r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Clique para editar o formato de texto dos tópicos</a:t>
            </a:r>
            <a:endParaRPr lang="pt-BR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2.º nível de tópicos</a:t>
            </a:r>
            <a:endParaRPr lang="pt-BR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3.º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4.º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5.º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6.º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7.º nível de tópicos</a:t>
            </a:r>
            <a:endParaRPr lang="pt-BR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2"/>
          <p:cNvSpPr/>
          <p:nvPr/>
        </p:nvSpPr>
        <p:spPr>
          <a:xfrm>
            <a:off x="822960" y="1051560"/>
            <a:ext cx="91436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200" b="1" u="none" spc="300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T1  - COMPUTAÇÃO PARALELA </a:t>
            </a:r>
            <a:endParaRPr lang="pt-BR" sz="2200" b="0" u="none" strike="noStrike">
              <a:solidFill>
                <a:srgbClr val="02C39A"/>
              </a:solidFill>
              <a:effectLst/>
              <a:uFillTx/>
              <a:latin typeface="Arial"/>
            </a:endParaRPr>
          </a:p>
        </p:txBody>
      </p:sp>
      <p:sp>
        <p:nvSpPr>
          <p:cNvPr id="11" name="Text 3"/>
          <p:cNvSpPr/>
          <p:nvPr/>
        </p:nvSpPr>
        <p:spPr>
          <a:xfrm>
            <a:off x="777240" y="1600200"/>
            <a:ext cx="10240920" cy="20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5500" b="1" u="none" strike="noStrike">
                <a:solidFill>
                  <a:srgbClr val="000000"/>
                </a:solidFill>
                <a:effectLst/>
                <a:uFillTx/>
                <a:latin typeface="Cambria"/>
                <a:ea typeface="Cambria"/>
              </a:rPr>
              <a:t>Paralelização de uma aplicação</a:t>
            </a:r>
            <a:endParaRPr lang="pt-BR" sz="5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ctr"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5500" b="1" u="none" strike="noStrike">
                <a:solidFill>
                  <a:srgbClr val="000000"/>
                </a:solidFill>
                <a:effectLst/>
                <a:uFillTx/>
                <a:latin typeface="Cambria"/>
                <a:ea typeface="Cambria"/>
              </a:rPr>
              <a:t>com OpenMP</a:t>
            </a:r>
            <a:endParaRPr lang="pt-BR" sz="5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822960" y="3886200"/>
            <a:ext cx="987516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 anchorCtr="1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Um path tracer estilo smallpt (Kevin Beason) e renderização Monte Carlo de uma Cornell Box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822960" y="5212080"/>
            <a:ext cx="73148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900" b="1" u="none" strike="noStrike">
                <a:solidFill>
                  <a:srgbClr val="666666"/>
                </a:solidFill>
                <a:effectLst/>
                <a:uFillTx/>
                <a:latin typeface="Calibri"/>
                <a:ea typeface="Calibri"/>
              </a:rPr>
              <a:t>Bernardo Klein Heitz</a:t>
            </a:r>
            <a:endParaRPr lang="pt-BR" sz="1900" b="0" u="none" strike="noStrike">
              <a:solidFill>
                <a:srgbClr val="666666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822960" y="5577840"/>
            <a:ext cx="100580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500" b="0" u="none" strike="noStrike">
                <a:solidFill>
                  <a:srgbClr val="5C6B7A"/>
                </a:solidFill>
                <a:effectLst/>
                <a:uFillTx/>
                <a:latin typeface="Calibri"/>
                <a:ea typeface="Calibri"/>
              </a:rPr>
              <a:t>AMD Ryzen 5 3600 (6 núcleos / 12 threads)  ·  gcc 11.4  ·  Ubuntu 22.04 (WSL2)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hape 0"/>
          <p:cNvSpPr/>
          <p:nvPr/>
        </p:nvSpPr>
        <p:spPr>
          <a:xfrm>
            <a:off x="822960" y="180000"/>
            <a:ext cx="566640" cy="56664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" name="Text 1"/>
          <p:cNvSpPr/>
          <p:nvPr/>
        </p:nvSpPr>
        <p:spPr>
          <a:xfrm>
            <a:off x="822960" y="18000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>
                <a:solidFill>
                  <a:srgbClr val="0B2138"/>
                </a:solidFill>
                <a:effectLst/>
                <a:uFillTx/>
                <a:latin typeface="Cambria"/>
              </a:rPr>
              <a:t>1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2"/>
          <p:cNvSpPr/>
          <p:nvPr/>
        </p:nvSpPr>
        <p:spPr>
          <a:xfrm>
            <a:off x="1600200" y="2440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pc="300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A APLICAÇÃO</a:t>
            </a:r>
            <a:endParaRPr lang="pt-BR" sz="2000" b="0" u="none" strike="noStrike">
              <a:solidFill>
                <a:srgbClr val="02C39A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3"/>
          <p:cNvSpPr/>
          <p:nvPr/>
        </p:nvSpPr>
        <p:spPr>
          <a:xfrm>
            <a:off x="1338120" y="360000"/>
            <a:ext cx="960084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400" b="1" u="none" strike="noStrike">
                <a:solidFill>
                  <a:srgbClr val="1E2933"/>
                </a:solidFill>
                <a:effectLst/>
                <a:uFillTx/>
                <a:latin typeface="Cambria"/>
                <a:ea typeface="Cambria"/>
              </a:rPr>
              <a:t>O que é o smallpt</a:t>
            </a:r>
            <a:endParaRPr lang="pt-BR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TextBox 5"/>
          <p:cNvSpPr/>
          <p:nvPr/>
        </p:nvSpPr>
        <p:spPr>
          <a:xfrm>
            <a:off x="180000" y="1440000"/>
            <a:ext cx="6300000" cy="4358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marL="216000" indent="-216000" defTabSz="914400">
              <a:lnSpc>
                <a:spcPct val="100000"/>
              </a:lnSpc>
              <a:spcAft>
                <a:spcPts val="799"/>
              </a:spcAft>
              <a:buClr>
                <a:srgbClr val="1E2933"/>
              </a:buClr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Path tracer mínimo do kevin beason (2008), reescrito em c11 (padrao iso da linguagem c de 2011). Não é um motor de jogos: É um integrador de luz.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799"/>
              </a:spcAft>
              <a:buClr>
                <a:srgbClr val="1E2933"/>
              </a:buClr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Para cada pixel, o programa dispara raios da câmera, deixa ricochetear na cena e soma a cor da luz que o caminho coletou. Um único caminho é ruidoso; A média de muitos caminhos vira a imagem.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spcAft>
                <a:spcPts val="799"/>
              </a:spcAft>
              <a:buClr>
                <a:srgbClr val="1E2933"/>
              </a:buClr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 cena é a cornell box: Parede vermelha, parede azul, esfera de espelho, esfera de vidro e luz no teto. As “paredes” são esferas gigantes.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" indent="-216000" defTabSz="914400">
              <a:lnSpc>
                <a:spcPct val="100000"/>
              </a:lnSpc>
              <a:buClr>
                <a:srgbClr val="1E2933"/>
              </a:buClr>
              <a:buFont typeface="Wingdings" charset="2"/>
              <a:buChar char=""/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Entrada: -w largura, -h altura, -s spp (amostras por subpixel). Custo proporcional a w · h · spp. referência: 800×600, spp=32 → T1 ≈ 54 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0" name="Picture 6" descr="17_render_referencia_800x600_spp32.png"/>
          <p:cNvPicPr/>
          <p:nvPr/>
        </p:nvPicPr>
        <p:blipFill>
          <a:blip r:embed="rId1"/>
          <a:stretch/>
        </p:blipFill>
        <p:spPr>
          <a:xfrm>
            <a:off x="6480360" y="1360800"/>
            <a:ext cx="5399640" cy="319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1" name="Rounded Rectangle 7"/>
          <p:cNvSpPr/>
          <p:nvPr/>
        </p:nvSpPr>
        <p:spPr>
          <a:xfrm>
            <a:off x="6480360" y="4740480"/>
            <a:ext cx="5399640" cy="1199520"/>
          </a:xfrm>
          <a:prstGeom prst="roundRect">
            <a:avLst>
              <a:gd name="adj" fmla="val 8000"/>
            </a:avLst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2" name="TextBox 8"/>
          <p:cNvSpPr/>
          <p:nvPr/>
        </p:nvSpPr>
        <p:spPr>
          <a:xfrm>
            <a:off x="6680520" y="4860720"/>
            <a:ext cx="49996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por que este programa    T1 ≈ 54 s    1 laço por linha não trivial (espelho, vidro, monte carlo)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Oval 1"/>
          <p:cNvSpPr/>
          <p:nvPr/>
        </p:nvSpPr>
        <p:spPr>
          <a:xfrm>
            <a:off x="822960" y="136440"/>
            <a:ext cx="566640" cy="5666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24" name="TextBox 2"/>
          <p:cNvSpPr/>
          <p:nvPr/>
        </p:nvSpPr>
        <p:spPr>
          <a:xfrm>
            <a:off x="822960" y="18000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2400" b="1" u="none" strike="noStrike">
                <a:solidFill>
                  <a:srgbClr val="0B2138"/>
                </a:solidFill>
                <a:effectLst/>
                <a:uFillTx/>
                <a:latin typeface="Cambria"/>
              </a:rPr>
              <a:t>2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Box 3"/>
          <p:cNvSpPr/>
          <p:nvPr/>
        </p:nvSpPr>
        <p:spPr>
          <a:xfrm>
            <a:off x="1600200" y="244080"/>
            <a:ext cx="979956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000" b="1" u="none" strike="noStrike">
                <a:solidFill>
                  <a:srgbClr val="02C39A"/>
                </a:solidFill>
                <a:effectLst/>
                <a:uFillTx/>
                <a:latin typeface="Calibri"/>
              </a:rPr>
              <a:t>A APLICAÇÃO</a:t>
            </a:r>
            <a:endParaRPr lang="pt-BR" sz="2000" b="0" u="none" strike="noStrike">
              <a:solidFill>
                <a:srgbClr val="02C39A"/>
              </a:solidFill>
              <a:effectLst/>
              <a:uFillTx/>
              <a:latin typeface="Arial"/>
            </a:endParaRPr>
          </a:p>
        </p:txBody>
      </p:sp>
      <p:sp>
        <p:nvSpPr>
          <p:cNvPr id="26" name="TextBox 4"/>
          <p:cNvSpPr/>
          <p:nvPr/>
        </p:nvSpPr>
        <p:spPr>
          <a:xfrm>
            <a:off x="1279080" y="527400"/>
            <a:ext cx="1024092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5400" b="1" u="none" strike="noStrike">
                <a:solidFill>
                  <a:srgbClr val="1E2933"/>
                </a:solidFill>
                <a:effectLst/>
                <a:uFillTx/>
                <a:latin typeface="Cambria"/>
              </a:rPr>
              <a:t>Como um pixel ganha cor</a:t>
            </a:r>
            <a:endParaRPr lang="pt-BR" sz="5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7" name="Picture 5" descr="04_path_tracing_rotulado.png"/>
          <p:cNvPicPr/>
          <p:nvPr/>
        </p:nvPicPr>
        <p:blipFill>
          <a:blip r:embed="rId1"/>
          <a:stretch/>
        </p:blipFill>
        <p:spPr>
          <a:xfrm>
            <a:off x="141120" y="1620000"/>
            <a:ext cx="6908760" cy="47494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TextBox 6"/>
          <p:cNvSpPr/>
          <p:nvPr/>
        </p:nvSpPr>
        <p:spPr>
          <a:xfrm>
            <a:off x="7300080" y="1620000"/>
            <a:ext cx="4759920" cy="4136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pt-BR" sz="2100" b="1" u="none" strike="noStrike">
                <a:solidFill>
                  <a:srgbClr val="1E2933"/>
                </a:solidFill>
                <a:effectLst/>
                <a:uFillTx/>
                <a:latin typeface="Cambria"/>
              </a:rPr>
              <a:t>Path tracing:</a:t>
            </a:r>
            <a:endParaRPr lang="pt-B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</a:pPr>
            <a:r>
              <a:rPr lang="pt-BR" sz="1600" b="0" u="none" strike="noStrike">
                <a:solidFill>
                  <a:srgbClr val="1E2933"/>
                </a:solidFill>
                <a:effectLst/>
                <a:uFillTx/>
                <a:latin typeface="Calibri"/>
              </a:rPr>
              <a:t>O raio sai da câmera, atravessa um pixel da imagem e rebate na cena. Em parede difusa o próximo rumo é aleatório; No espelho reflete; No vidro pode refratar. A cor do pixel é a luz acumulada nesse caminho.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pt-BR" sz="2100" b="1" u="none" strike="noStrike">
                <a:solidFill>
                  <a:srgbClr val="1E2933"/>
                </a:solidFill>
                <a:effectLst/>
                <a:uFillTx/>
                <a:latin typeface="Cambria"/>
              </a:rPr>
              <a:t>Monte carlo:</a:t>
            </a:r>
            <a:endParaRPr lang="pt-B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1001"/>
              </a:spcAft>
            </a:pPr>
            <a:r>
              <a:rPr lang="pt-BR" sz="1600" b="0" u="none" strike="noStrike">
                <a:solidFill>
                  <a:srgbClr val="1E2933"/>
                </a:solidFill>
                <a:effectLst/>
                <a:uFillTx/>
                <a:latin typeface="Calibri"/>
              </a:rPr>
              <a:t>Estima um integral difícil (a luz que chega no pixel) pela média de amostras aleatórias. Um caminho só é uma amostra ruim; Milhares no mesmo pixel convergem para a imagem certa.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pt-BR" sz="2100" b="1" u="none" strike="noStrike">
                <a:solidFill>
                  <a:srgbClr val="1E2933"/>
                </a:solidFill>
                <a:effectLst/>
                <a:uFillTx/>
                <a:latin typeface="Cambria"/>
              </a:rPr>
              <a:t>-w  -h  -s</a:t>
            </a:r>
            <a:endParaRPr lang="pt-B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rgbClr val="1E2933"/>
                </a:solidFill>
                <a:effectLst/>
                <a:uFillTx/>
                <a:latin typeface="Calibri"/>
              </a:rPr>
              <a:t>-w = largura em pixels. -h = altura. -s = spp = amostras por subpixel (há 2×2 subpixels, então 4·spp caminhos por pixel). Dobrar o spp dobra o tempo.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Oval 1"/>
          <p:cNvSpPr/>
          <p:nvPr/>
        </p:nvSpPr>
        <p:spPr>
          <a:xfrm>
            <a:off x="822960" y="251640"/>
            <a:ext cx="566640" cy="566640"/>
          </a:xfrm>
          <a:prstGeom prst="ellipse">
            <a:avLst/>
          </a:prstGeom>
          <a:solidFill>
            <a:srgbClr val="02C39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" name="TextBox 2"/>
          <p:cNvSpPr/>
          <p:nvPr/>
        </p:nvSpPr>
        <p:spPr>
          <a:xfrm>
            <a:off x="822960" y="25164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914400">
              <a:lnSpc>
                <a:spcPct val="100000"/>
              </a:lnSpc>
            </a:pPr>
            <a:r>
              <a:rPr lang="pt-BR" sz="2400" b="1" u="none" strike="noStrike">
                <a:solidFill>
                  <a:srgbClr val="0B2138"/>
                </a:solidFill>
                <a:effectLst/>
                <a:uFillTx/>
                <a:latin typeface="Cambria"/>
              </a:rPr>
              <a:t>3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Box 3"/>
          <p:cNvSpPr/>
          <p:nvPr/>
        </p:nvSpPr>
        <p:spPr>
          <a:xfrm>
            <a:off x="1600200" y="315720"/>
            <a:ext cx="9799560" cy="39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2000" b="1" u="none" strike="noStrike">
                <a:solidFill>
                  <a:srgbClr val="02C39A"/>
                </a:solidFill>
                <a:effectLst/>
                <a:uFillTx/>
                <a:latin typeface="Calibri"/>
              </a:rPr>
              <a:t>A APLICAÇÃO</a:t>
            </a:r>
            <a:endParaRPr lang="pt-BR" sz="2000" b="0" u="none" strike="noStrike">
              <a:solidFill>
                <a:srgbClr val="02C39A"/>
              </a:solidFill>
              <a:effectLst/>
              <a:uFillTx/>
              <a:latin typeface="Arial"/>
            </a:endParaRPr>
          </a:p>
        </p:txBody>
      </p:sp>
      <p:sp>
        <p:nvSpPr>
          <p:cNvPr id="32" name="TextBox 4"/>
          <p:cNvSpPr/>
          <p:nvPr/>
        </p:nvSpPr>
        <p:spPr>
          <a:xfrm>
            <a:off x="1260000" y="720000"/>
            <a:ext cx="10240920" cy="699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lang="pt-BR" sz="4000" b="1" u="none" strike="noStrike">
                <a:solidFill>
                  <a:srgbClr val="1E2933"/>
                </a:solidFill>
                <a:effectLst/>
                <a:uFillTx/>
                <a:latin typeface="Cambria"/>
              </a:rPr>
              <a:t>Renderização: mais amostras, menos ruído</a:t>
            </a:r>
            <a:endParaRPr lang="pt-B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3" name="Picture 5" descr="render_spp1.png"/>
          <p:cNvPicPr/>
          <p:nvPr/>
        </p:nvPicPr>
        <p:blipFill>
          <a:blip r:embed="rId1"/>
          <a:stretch/>
        </p:blipFill>
        <p:spPr>
          <a:xfrm>
            <a:off x="600120" y="1700280"/>
            <a:ext cx="3499560" cy="279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4" name="TextBox 6"/>
          <p:cNvSpPr/>
          <p:nvPr/>
        </p:nvSpPr>
        <p:spPr>
          <a:xfrm>
            <a:off x="600120" y="4799880"/>
            <a:ext cx="349956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pt-BR" sz="2100" b="1" u="none" strike="noStrike">
                <a:solidFill>
                  <a:srgbClr val="1E2933"/>
                </a:solidFill>
                <a:effectLst/>
                <a:uFillTx/>
                <a:latin typeface="Cambria"/>
              </a:rPr>
              <a:t>spp = 1</a:t>
            </a:r>
            <a:endParaRPr lang="pt-B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1E2933"/>
                </a:solidFill>
                <a:effectLst/>
                <a:uFillTx/>
                <a:latin typeface="Calibri"/>
              </a:rPr>
              <a:t>4 caminhos/pixel. Quase só ruído: a média ainda não estabilizou.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5" name="Picture 7" descr="render_spp4.png"/>
          <p:cNvPicPr/>
          <p:nvPr/>
        </p:nvPicPr>
        <p:blipFill>
          <a:blip r:embed="rId2"/>
          <a:stretch/>
        </p:blipFill>
        <p:spPr>
          <a:xfrm>
            <a:off x="4299840" y="1700280"/>
            <a:ext cx="3499560" cy="279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6" name="TextBox 8"/>
          <p:cNvSpPr/>
          <p:nvPr/>
        </p:nvSpPr>
        <p:spPr>
          <a:xfrm>
            <a:off x="4299840" y="4799880"/>
            <a:ext cx="349956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pt-BR" sz="2100" b="1" u="none" strike="noStrike">
                <a:solidFill>
                  <a:srgbClr val="1E2933"/>
                </a:solidFill>
                <a:effectLst/>
                <a:uFillTx/>
                <a:latin typeface="Cambria"/>
              </a:rPr>
              <a:t>spp = 4</a:t>
            </a:r>
            <a:endParaRPr lang="pt-B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1E2933"/>
                </a:solidFill>
                <a:effectLst/>
                <a:uFillTx/>
                <a:latin typeface="Calibri"/>
              </a:rPr>
              <a:t>16 caminhos/pixel. A sala aparece, mas o granulado continua forte.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37" name="Picture 9" descr="render_spp32.png"/>
          <p:cNvPicPr/>
          <p:nvPr/>
        </p:nvPicPr>
        <p:blipFill>
          <a:blip r:embed="rId3"/>
          <a:stretch/>
        </p:blipFill>
        <p:spPr>
          <a:xfrm>
            <a:off x="7999920" y="1700280"/>
            <a:ext cx="3499560" cy="27997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8" name="TextBox 10"/>
          <p:cNvSpPr/>
          <p:nvPr/>
        </p:nvSpPr>
        <p:spPr>
          <a:xfrm>
            <a:off x="7999920" y="4799880"/>
            <a:ext cx="3499560" cy="1008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pt-BR" sz="2100" b="1" u="none" strike="noStrike">
                <a:solidFill>
                  <a:srgbClr val="1E2933"/>
                </a:solidFill>
                <a:effectLst/>
                <a:uFillTx/>
                <a:latin typeface="Cambria"/>
              </a:rPr>
              <a:t>spp = 32  (referência)</a:t>
            </a:r>
            <a:endParaRPr lang="pt-B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1E2933"/>
                </a:solidFill>
                <a:effectLst/>
                <a:uFillTx/>
                <a:latin typeface="Calibri"/>
              </a:rPr>
              <a:t>128 caminhos/pixel. Mesma entrada do relatório. T1 ≈ 54 s.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Shape 0"/>
          <p:cNvSpPr/>
          <p:nvPr/>
        </p:nvSpPr>
        <p:spPr>
          <a:xfrm>
            <a:off x="822960" y="200880"/>
            <a:ext cx="566640" cy="56664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0" name="Text 1"/>
          <p:cNvSpPr/>
          <p:nvPr/>
        </p:nvSpPr>
        <p:spPr>
          <a:xfrm>
            <a:off x="822960" y="1807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>
                <a:solidFill>
                  <a:srgbClr val="0B2138"/>
                </a:solidFill>
                <a:effectLst/>
                <a:uFillTx/>
                <a:latin typeface="Cambria"/>
              </a:rPr>
              <a:t>4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2"/>
          <p:cNvSpPr/>
          <p:nvPr/>
        </p:nvSpPr>
        <p:spPr>
          <a:xfrm>
            <a:off x="1600200" y="2448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pc="300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PERFIL DE EXECUÇÃO</a:t>
            </a:r>
            <a:endParaRPr lang="pt-BR" sz="2000" b="0" u="none" strike="noStrike">
              <a:solidFill>
                <a:srgbClr val="02C39A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3"/>
          <p:cNvSpPr/>
          <p:nvPr/>
        </p:nvSpPr>
        <p:spPr>
          <a:xfrm>
            <a:off x="1389600" y="525960"/>
            <a:ext cx="10240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4000" b="1" u="none" strike="noStrike">
                <a:solidFill>
                  <a:srgbClr val="1E2933"/>
                </a:solidFill>
                <a:effectLst/>
                <a:uFillTx/>
                <a:latin typeface="Cambria"/>
              </a:rPr>
              <a:t>Onde paralelizar: teto de Amdahl</a:t>
            </a:r>
            <a:endParaRPr lang="pt-B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43" name="Picture 5" descr="13_gprof.png"/>
          <p:cNvPicPr/>
          <p:nvPr/>
        </p:nvPicPr>
        <p:blipFill>
          <a:blip r:embed="rId1"/>
          <a:stretch/>
        </p:blipFill>
        <p:spPr>
          <a:xfrm>
            <a:off x="360000" y="1589040"/>
            <a:ext cx="5940000" cy="47109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4" name="Rounded Rectangle 6"/>
          <p:cNvSpPr/>
          <p:nvPr/>
        </p:nvSpPr>
        <p:spPr>
          <a:xfrm>
            <a:off x="6500160" y="1900080"/>
            <a:ext cx="5199480" cy="4599720"/>
          </a:xfrm>
          <a:prstGeom prst="roundRect">
            <a:avLst>
              <a:gd name="adj" fmla="val 8000"/>
            </a:avLst>
          </a:prstGeom>
          <a:solidFill>
            <a:srgbClr val="DDDDDD"/>
          </a:solidFill>
          <a:ln w="12700">
            <a:solidFill>
              <a:srgbClr val="E3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5" name="TextBox 7"/>
          <p:cNvSpPr/>
          <p:nvPr/>
        </p:nvSpPr>
        <p:spPr>
          <a:xfrm>
            <a:off x="6699960" y="2000160"/>
            <a:ext cx="4849560" cy="432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pt-BR" sz="2100" b="1" u="none" strike="noStrike">
                <a:solidFill>
                  <a:srgbClr val="1C7293"/>
                </a:solidFill>
                <a:effectLst/>
                <a:uFillTx/>
                <a:latin typeface="Cambria"/>
              </a:rPr>
              <a:t>Leitura do gráfico:</a:t>
            </a:r>
            <a:endParaRPr lang="pt-B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</a:pPr>
            <a:r>
              <a:rPr lang="pt-BR" sz="1800" b="0" u="none" strike="noStrike">
                <a:solidFill>
                  <a:srgbClr val="1E2933"/>
                </a:solidFill>
                <a:effectLst/>
                <a:uFillTx/>
                <a:latin typeface="Calibri"/>
              </a:rPr>
              <a:t>Tempo próprio do gprof na versão sequencial. Quase tudo (interseção, vetores, radiance, rng) é chamado de dentro do laço em y. Só o main (~1,8%) fica de fora: Setup e checksum.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pt-BR" sz="2100" b="1" u="none" strike="noStrike">
                <a:solidFill>
                  <a:srgbClr val="1C7293"/>
                </a:solidFill>
                <a:effectLst/>
                <a:uFillTx/>
                <a:latin typeface="Cambria"/>
              </a:rPr>
              <a:t>O que é o teto de amdahl:</a:t>
            </a:r>
            <a:endParaRPr lang="pt-B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</a:pPr>
            <a:r>
              <a:rPr lang="pt-BR" sz="1800" b="0" u="none" strike="noStrike">
                <a:solidFill>
                  <a:srgbClr val="1E2933"/>
                </a:solidFill>
                <a:effectLst/>
                <a:uFillTx/>
                <a:latin typeface="Calibri"/>
              </a:rPr>
              <a:t>Se uma fração f é paralelizada e 1−f permanece serial, o speed-up com p threads não passa de S(p) = 1 / ((1−f) + f/p). A parte serial não encolhe, por mais threads que se coloque.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1E2933"/>
                </a:solidFill>
                <a:effectLst/>
                <a:uFillTx/>
                <a:latin typeface="Calibri"/>
              </a:rPr>
              <a:t>Aqui f ≈ 0,982. teto em 6 threads ≈ 5,51; Em 12 ≈ 10; com infinitas threads S∞ = 1/(1−f) ≈ 55,6. medimos 7,44× em 12 — abaixo de 10. A saturação não é essa fração serial.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0"/>
          <p:cNvSpPr/>
          <p:nvPr/>
        </p:nvSpPr>
        <p:spPr>
          <a:xfrm>
            <a:off x="720000" y="282600"/>
            <a:ext cx="566640" cy="56664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7" name="Text 1"/>
          <p:cNvSpPr/>
          <p:nvPr/>
        </p:nvSpPr>
        <p:spPr>
          <a:xfrm>
            <a:off x="720000" y="24192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>
                <a:solidFill>
                  <a:srgbClr val="0B2138"/>
                </a:solidFill>
                <a:effectLst/>
                <a:uFillTx/>
                <a:latin typeface="Cambria"/>
              </a:rPr>
              <a:t>5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2"/>
          <p:cNvSpPr/>
          <p:nvPr/>
        </p:nvSpPr>
        <p:spPr>
          <a:xfrm>
            <a:off x="1497240" y="3060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pc="300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ESTRATÉGIA DE PARALELIZAÇÃO</a:t>
            </a:r>
            <a:endParaRPr lang="pt-BR" sz="2000" b="0" u="none" strike="noStrike">
              <a:solidFill>
                <a:srgbClr val="02C39A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3"/>
          <p:cNvSpPr/>
          <p:nvPr/>
        </p:nvSpPr>
        <p:spPr>
          <a:xfrm>
            <a:off x="1356120" y="448560"/>
            <a:ext cx="10240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1E2933"/>
                </a:solidFill>
                <a:effectLst/>
                <a:uFillTx/>
                <a:latin typeface="Cambria"/>
                <a:ea typeface="Cambria"/>
              </a:rPr>
              <a:t>Unidade de trabalho: uma linha da imagem</a:t>
            </a:r>
            <a:endParaRPr lang="pt-B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50" name="Picture 5" descr="11_eixo_paralelismo.png"/>
          <p:cNvPicPr/>
          <p:nvPr/>
        </p:nvPicPr>
        <p:blipFill>
          <a:blip r:embed="rId1"/>
          <a:stretch/>
        </p:blipFill>
        <p:spPr>
          <a:xfrm>
            <a:off x="1800000" y="1260000"/>
            <a:ext cx="9000000" cy="396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1" name="TextBox 6"/>
          <p:cNvSpPr/>
          <p:nvPr/>
        </p:nvSpPr>
        <p:spPr>
          <a:xfrm>
            <a:off x="661320" y="5279040"/>
            <a:ext cx="5399640" cy="13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pt-BR" sz="1800" b="1" u="none" strike="noStrike">
                <a:solidFill>
                  <a:srgbClr val="1E2933"/>
                </a:solidFill>
                <a:effectLst/>
                <a:uFillTx/>
                <a:latin typeface="Cambria"/>
              </a:rPr>
              <a:t>static (esquerda):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500" b="0" u="none" strike="noStrike">
                <a:solidFill>
                  <a:srgbClr val="1E2933"/>
                </a:solidFill>
                <a:effectLst/>
                <a:uFillTx/>
                <a:latin typeface="Calibri"/>
              </a:rPr>
              <a:t>Parte a imagem em faixas contíguas e fixas. A thread 0 fica com o chão (y=0), a última com o teto. Se uma thread atrasa, no wsl2, isso acontece por preempção e o bloco inteiro dela trava e as outras não pegam o trabalho dela.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Box 7"/>
          <p:cNvSpPr/>
          <p:nvPr/>
        </p:nvSpPr>
        <p:spPr>
          <a:xfrm>
            <a:off x="6261120" y="5279040"/>
            <a:ext cx="5399640" cy="1329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pt-BR" sz="1800" b="1" u="none" strike="noStrike">
                <a:solidFill>
                  <a:srgbClr val="1E2933"/>
                </a:solidFill>
                <a:effectLst/>
                <a:uFillTx/>
                <a:latin typeface="Cambria"/>
              </a:rPr>
              <a:t>dynamic,4 (direita):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500" b="0" u="none" strike="noStrike">
                <a:solidFill>
                  <a:srgbClr val="1E2933"/>
                </a:solidFill>
                <a:effectLst/>
                <a:uFillTx/>
                <a:latin typeface="Calibri"/>
              </a:rPr>
              <a:t>As linhas entram num estoque comum em blocos de 4. A thread que termina pega o próximo bloco. O atraso de uma é absorvido pelas outras. Foi a política adotada. Cada linha continua independente: Escrita só em c[y·w+x], rng privado, sem atomic.</a:t>
            </a:r>
            <a:endParaRPr lang="pt-BR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Shape 0"/>
          <p:cNvSpPr/>
          <p:nvPr/>
        </p:nvSpPr>
        <p:spPr>
          <a:xfrm>
            <a:off x="802800" y="227880"/>
            <a:ext cx="566640" cy="56664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4" name="Text 1"/>
          <p:cNvSpPr/>
          <p:nvPr/>
        </p:nvSpPr>
        <p:spPr>
          <a:xfrm>
            <a:off x="812880" y="18000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>
                <a:solidFill>
                  <a:srgbClr val="0B2138"/>
                </a:solidFill>
                <a:effectLst/>
                <a:uFillTx/>
                <a:latin typeface="Cambria"/>
              </a:rPr>
              <a:t>6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2"/>
          <p:cNvSpPr/>
          <p:nvPr/>
        </p:nvSpPr>
        <p:spPr>
          <a:xfrm>
            <a:off x="1590120" y="2440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pc="300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DIRETIVAS OPENMP</a:t>
            </a:r>
            <a:endParaRPr lang="pt-BR" sz="2000" b="0" u="none" strike="noStrike">
              <a:solidFill>
                <a:srgbClr val="02C39A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3"/>
          <p:cNvSpPr/>
          <p:nvPr/>
        </p:nvSpPr>
        <p:spPr>
          <a:xfrm>
            <a:off x="1449000" y="525960"/>
            <a:ext cx="1024092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Cambria"/>
                <a:ea typeface="Cambria"/>
              </a:rPr>
              <a:t>As cláusulas e o porquê de cada uma</a:t>
            </a:r>
            <a:endParaRPr lang="pt-B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Shape 4"/>
          <p:cNvSpPr/>
          <p:nvPr/>
        </p:nvSpPr>
        <p:spPr>
          <a:xfrm>
            <a:off x="868680" y="2160000"/>
            <a:ext cx="6400440" cy="3960000"/>
          </a:xfrm>
          <a:prstGeom prst="roundRect">
            <a:avLst>
              <a:gd name="adj" fmla="val 1538"/>
            </a:avLst>
          </a:prstGeom>
          <a:solidFill>
            <a:srgbClr val="DDD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Text 5"/>
          <p:cNvSpPr/>
          <p:nvPr/>
        </p:nvSpPr>
        <p:spPr>
          <a:xfrm>
            <a:off x="1234440" y="2331720"/>
            <a:ext cx="5760360" cy="356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#pragma omp parallel default(none) \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shared(a, c, cam_o, cam_d, cx, cy,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     stat, threads_used)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{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#pragma omp for schedule(runtime) nowait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for (int y = 0; y &lt; a.h; ++y) {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Rng rng;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rng.s = a.seed ^ ((y+1)*0x9E37...);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  for (int x = 0; x &lt; a.w; ++x) { ... }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  }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2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onsolas"/>
                <a:ea typeface="Consolas"/>
              </a:rPr>
              <a:t>}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6"/>
          <p:cNvSpPr/>
          <p:nvPr/>
        </p:nvSpPr>
        <p:spPr>
          <a:xfrm>
            <a:off x="7560000" y="1260000"/>
            <a:ext cx="4320000" cy="3925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152280" indent="-152280" defTabSz="914400">
              <a:lnSpc>
                <a:spcPct val="100000"/>
              </a:lnSpc>
              <a:spcAft>
                <a:spcPts val="201"/>
              </a:spcAft>
              <a:buClr>
                <a:srgbClr val="02C39A"/>
              </a:buClr>
              <a:buFont typeface="Symbol" charset="2"/>
              <a:buChar char=""/>
            </a:pPr>
            <a:r>
              <a:rPr lang="pt-BR" sz="2100" b="1" u="none" strike="noStrike">
                <a:solidFill>
                  <a:srgbClr val="02C39A"/>
                </a:solidFill>
                <a:effectLst/>
                <a:uFillTx/>
                <a:latin typeface="Calibri"/>
              </a:rPr>
              <a:t>default(none):</a:t>
            </a:r>
            <a:endParaRPr lang="pt-B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Obriga listar o escopo de cada variável. Se algo deveria ser private e não foi declarado, o compilador recusa, não deixa a condição de corrida escondida.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pt-BR" sz="2100" b="1" u="none" strike="noStrike">
                <a:solidFill>
                  <a:srgbClr val="02C39A"/>
                </a:solidFill>
                <a:effectLst/>
                <a:uFillTx/>
                <a:latin typeface="Calibri"/>
              </a:rPr>
              <a:t>Shared:</a:t>
            </a:r>
            <a:endParaRPr lang="pt-B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Só entradas (a, câmera), o buffer c (cada thread escreve numa faixa disjunta) e stat[tid] com padding de 64 B contra falso compartilhamento.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201"/>
              </a:spcAft>
            </a:pPr>
            <a:r>
              <a:rPr lang="pt-BR" sz="2100" b="1" u="none" strike="noStrike">
                <a:solidFill>
                  <a:srgbClr val="02C39A"/>
                </a:solidFill>
                <a:effectLst/>
                <a:uFillTx/>
                <a:latin typeface="Calibri"/>
              </a:rPr>
              <a:t>schedule(runtime) e nowait:</a:t>
            </a:r>
            <a:endParaRPr lang="pt-B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20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 política vem de OMP_SCHEDULE, então comparamos static/dynamic/guided sem recompilar. Nowait tira a barreira do for: O tempo por thread é a carga real. Sem reduction: não há acumulador no laço quente; O checksum é depois.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hape 0"/>
          <p:cNvSpPr/>
          <p:nvPr/>
        </p:nvSpPr>
        <p:spPr>
          <a:xfrm>
            <a:off x="670680" y="187200"/>
            <a:ext cx="566640" cy="56664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1" name="Text 1"/>
          <p:cNvSpPr/>
          <p:nvPr/>
        </p:nvSpPr>
        <p:spPr>
          <a:xfrm>
            <a:off x="670680" y="18720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>
                <a:solidFill>
                  <a:srgbClr val="0B2138"/>
                </a:solidFill>
                <a:effectLst/>
                <a:uFillTx/>
                <a:latin typeface="Cambria"/>
              </a:rPr>
              <a:t>7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2"/>
          <p:cNvSpPr/>
          <p:nvPr/>
        </p:nvSpPr>
        <p:spPr>
          <a:xfrm>
            <a:off x="1447920" y="2512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pc="300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DECISÃO EMPÍRICA</a:t>
            </a:r>
            <a:endParaRPr lang="pt-BR" sz="2000" b="0" u="none" strike="noStrike">
              <a:solidFill>
                <a:srgbClr val="02C39A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3"/>
          <p:cNvSpPr/>
          <p:nvPr/>
        </p:nvSpPr>
        <p:spPr>
          <a:xfrm>
            <a:off x="1107720" y="533160"/>
            <a:ext cx="10423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1E2933"/>
                </a:solidFill>
                <a:effectLst/>
                <a:uFillTx/>
                <a:latin typeface="Cambria"/>
                <a:ea typeface="Cambria"/>
              </a:rPr>
              <a:t>7 políticas testadas, 12 threads e 10 execuções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64" name="Picture 5" descr="16_schedule.png"/>
          <p:cNvPicPr/>
          <p:nvPr/>
        </p:nvPicPr>
        <p:blipFill>
          <a:blip r:embed="rId1"/>
          <a:stretch/>
        </p:blipFill>
        <p:spPr>
          <a:xfrm>
            <a:off x="180000" y="1447200"/>
            <a:ext cx="6917760" cy="5132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Rounded Rectangle 6"/>
          <p:cNvSpPr/>
          <p:nvPr/>
        </p:nvSpPr>
        <p:spPr>
          <a:xfrm>
            <a:off x="6800040" y="1900080"/>
            <a:ext cx="4899600" cy="4599720"/>
          </a:xfrm>
          <a:prstGeom prst="roundRect">
            <a:avLst>
              <a:gd name="adj" fmla="val 8000"/>
            </a:avLst>
          </a:prstGeom>
          <a:solidFill>
            <a:srgbClr val="DDDDDD"/>
          </a:solidFill>
          <a:ln w="12700">
            <a:solidFill>
              <a:srgbClr val="E3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TextBox 7"/>
          <p:cNvSpPr/>
          <p:nvPr/>
        </p:nvSpPr>
        <p:spPr>
          <a:xfrm>
            <a:off x="6999840" y="2000160"/>
            <a:ext cx="4549680" cy="405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pt-BR" sz="2100" b="1" u="none" strike="noStrike">
                <a:solidFill>
                  <a:srgbClr val="1C7293"/>
                </a:solidFill>
                <a:effectLst/>
                <a:uFillTx/>
                <a:latin typeface="Cambria"/>
              </a:rPr>
              <a:t>Leitura do </a:t>
            </a:r>
            <a:r>
              <a:rPr lang="pt-BR" sz="2100" b="1" u="none" strike="noStrike">
                <a:solidFill>
                  <a:srgbClr val="1C7293"/>
                </a:solidFill>
                <a:effectLst/>
                <a:uFillTx/>
                <a:latin typeface="Cambria"/>
              </a:rPr>
              <a:t>gráfico</a:t>
            </a:r>
            <a:r>
              <a:rPr lang="pt-BR" sz="1800" b="1" u="none" strike="noStrike">
                <a:solidFill>
                  <a:srgbClr val="1C7293"/>
                </a:solidFill>
                <a:effectLst/>
                <a:uFillTx/>
                <a:latin typeface="Cambria"/>
              </a:rPr>
              <a:t>: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</a:pPr>
            <a:r>
              <a:rPr lang="pt-BR" sz="1800" b="0" u="none" strike="noStrike">
                <a:solidFill>
                  <a:srgbClr val="1E2933"/>
                </a:solidFill>
                <a:effectLst/>
                <a:uFillTx/>
                <a:latin typeface="Calibri"/>
              </a:rPr>
              <a:t>Mediana de 10 execuções em 12 threads. A haste é o intervalo min–max. Barra mais baixa e haste curta = mais rápido e mais estável.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pt-BR" sz="2100" b="1" u="none" strike="noStrike">
                <a:solidFill>
                  <a:srgbClr val="1C7293"/>
                </a:solidFill>
                <a:effectLst/>
                <a:uFillTx/>
                <a:latin typeface="Cambria"/>
              </a:rPr>
              <a:t>Por que dynamic,4 (verde):</a:t>
            </a:r>
            <a:endParaRPr lang="pt-BR" sz="2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</a:pPr>
            <a:r>
              <a:rPr lang="pt-BR" sz="1800" b="0" u="none" strike="noStrike">
                <a:solidFill>
                  <a:srgbClr val="1E2933"/>
                </a:solidFill>
                <a:effectLst/>
                <a:uFillTx/>
                <a:latin typeface="Calibri"/>
              </a:rPr>
              <a:t>Menor mediana (7,16 s) e menor dispersão (7,01–7,35 s). Static sem chunk é o pior e o mais volátil (7,57–11,78 s): No wsl2 uma thread preemptada trava o bloco fixo. Dynamic,4 redistribui e absorve o atraso.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 algoritmo em si desbalanceia &lt; 1% entre threads. O fator decisivo não é o espelho vs. O fundo: É a robustez à preempção do sistema.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Shape 0"/>
          <p:cNvSpPr/>
          <p:nvPr/>
        </p:nvSpPr>
        <p:spPr>
          <a:xfrm>
            <a:off x="720000" y="180000"/>
            <a:ext cx="566640" cy="56664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8" name="Text 1"/>
          <p:cNvSpPr/>
          <p:nvPr/>
        </p:nvSpPr>
        <p:spPr>
          <a:xfrm>
            <a:off x="720000" y="18000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>
                <a:solidFill>
                  <a:srgbClr val="0B2138"/>
                </a:solidFill>
                <a:effectLst/>
                <a:uFillTx/>
                <a:latin typeface="Cambria"/>
              </a:rPr>
              <a:t>8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"/>
          <p:cNvSpPr/>
          <p:nvPr/>
        </p:nvSpPr>
        <p:spPr>
          <a:xfrm>
            <a:off x="1497240" y="2440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pc="300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RESULTADOS: ESCALABILIDADE FORTE</a:t>
            </a:r>
            <a:endParaRPr lang="pt-BR" sz="2000" b="0" u="none" strike="noStrike">
              <a:solidFill>
                <a:srgbClr val="02C39A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3"/>
          <p:cNvSpPr/>
          <p:nvPr/>
        </p:nvSpPr>
        <p:spPr>
          <a:xfrm>
            <a:off x="977040" y="555840"/>
            <a:ext cx="10423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1E2933"/>
                </a:solidFill>
                <a:effectLst/>
                <a:uFillTx/>
                <a:latin typeface="Cambria"/>
                <a:ea typeface="Cambria"/>
              </a:rPr>
              <a:t>Speed-up: acompanha Amdahl até 6 threads</a:t>
            </a:r>
            <a:endParaRPr lang="pt-B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1" name="Picture 5" descr="14_speedup.png"/>
          <p:cNvPicPr/>
          <p:nvPr/>
        </p:nvPicPr>
        <p:blipFill>
          <a:blip r:embed="rId1"/>
          <a:stretch/>
        </p:blipFill>
        <p:spPr>
          <a:xfrm>
            <a:off x="180000" y="1469880"/>
            <a:ext cx="7406280" cy="50101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2" name="Rounded Rectangle 6"/>
          <p:cNvSpPr/>
          <p:nvPr/>
        </p:nvSpPr>
        <p:spPr>
          <a:xfrm>
            <a:off x="7400160" y="1879920"/>
            <a:ext cx="4299480" cy="4599720"/>
          </a:xfrm>
          <a:prstGeom prst="roundRect">
            <a:avLst>
              <a:gd name="adj" fmla="val 8000"/>
            </a:avLst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7580160" y="1980000"/>
            <a:ext cx="3999600" cy="403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pt-BR" sz="2000" b="1" u="none" strike="noStrike">
                <a:solidFill>
                  <a:srgbClr val="02C39A"/>
                </a:solidFill>
                <a:effectLst/>
                <a:uFillTx/>
                <a:latin typeface="Cambria"/>
              </a:rPr>
              <a:t>Leitura do gráfico: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Eixo x = threads (1, 2, 4, 6, 8, 10, 12). Linha cinza = speed-up ideal (y = p). azul = mediana medida. faixa clara = min/max das 10 execuções. Linha pontilhada em 6 = início do smt.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pt-BR" sz="2000" b="1" u="none" strike="noStrike">
                <a:solidFill>
                  <a:srgbClr val="02C39A"/>
                </a:solidFill>
                <a:effectLst/>
                <a:uFillTx/>
                <a:latin typeface="Cambria"/>
              </a:rPr>
              <a:t>Até 6 núcleos físicos: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Speed-up 4,93 (teto de amdahl 5,51), eficiência 82,2%. A curva acompanha o ideal de perto.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pt-BR" sz="2000" b="1" u="none" strike="noStrike">
                <a:solidFill>
                  <a:srgbClr val="02C39A"/>
                </a:solidFill>
                <a:effectLst/>
                <a:uFillTx/>
                <a:latin typeface="Cambria"/>
              </a:rPr>
              <a:t>Depois de 6: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Duas threads no mesmo núcleo disputam ponto flutuante. Em 12: 7,44× e 62%. 7,44 &lt; teto 10 → a quebra é smt, não a fração serial.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Shape 0"/>
          <p:cNvSpPr/>
          <p:nvPr/>
        </p:nvSpPr>
        <p:spPr>
          <a:xfrm>
            <a:off x="822960" y="360000"/>
            <a:ext cx="566640" cy="566640"/>
          </a:xfrm>
          <a:prstGeom prst="ellipse">
            <a:avLst/>
          </a:prstGeom>
          <a:solidFill>
            <a:srgbClr val="02C39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5" name="Text 1"/>
          <p:cNvSpPr/>
          <p:nvPr/>
        </p:nvSpPr>
        <p:spPr>
          <a:xfrm>
            <a:off x="822960" y="360000"/>
            <a:ext cx="566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pt-BR" sz="2400" b="1" u="none" strike="noStrike">
                <a:solidFill>
                  <a:srgbClr val="0B2138"/>
                </a:solidFill>
                <a:effectLst/>
                <a:uFillTx/>
                <a:latin typeface="Cambria"/>
              </a:rPr>
              <a:t>9</a:t>
            </a:r>
            <a:endParaRPr lang="pt-BR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2"/>
          <p:cNvSpPr/>
          <p:nvPr/>
        </p:nvSpPr>
        <p:spPr>
          <a:xfrm>
            <a:off x="1600200" y="42408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pc="300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RESULTADOS: ESCALABILIDADE FRACA</a:t>
            </a:r>
            <a:endParaRPr lang="pt-BR" sz="2000" b="0" u="none" strike="noStrike">
              <a:solidFill>
                <a:srgbClr val="02C39A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3"/>
          <p:cNvSpPr/>
          <p:nvPr/>
        </p:nvSpPr>
        <p:spPr>
          <a:xfrm>
            <a:off x="1080000" y="705960"/>
            <a:ext cx="1042380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1E2933"/>
                </a:solidFill>
                <a:effectLst/>
                <a:uFillTx/>
                <a:latin typeface="Cambria"/>
                <a:ea typeface="Cambria"/>
              </a:rPr>
              <a:t>Eficiência: ambas quebram ao entrar no SMT</a:t>
            </a:r>
            <a:endParaRPr lang="pt-B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78" name="Picture 5" descr="15_eficiencia.png"/>
          <p:cNvPicPr/>
          <p:nvPr/>
        </p:nvPicPr>
        <p:blipFill>
          <a:blip r:embed="rId1"/>
          <a:stretch/>
        </p:blipFill>
        <p:spPr>
          <a:xfrm>
            <a:off x="220320" y="1440000"/>
            <a:ext cx="7450560" cy="50400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9" name="Rounded Rectangle 6"/>
          <p:cNvSpPr/>
          <p:nvPr/>
        </p:nvSpPr>
        <p:spPr>
          <a:xfrm>
            <a:off x="7400160" y="1879920"/>
            <a:ext cx="4299480" cy="4599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A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p>
            <a:pPr/>
            <a:endParaRPr lang="pt-BR" sz="1800" b="0" u="none" strike="noStrik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80" name="TextBox 7"/>
          <p:cNvSpPr/>
          <p:nvPr/>
        </p:nvSpPr>
        <p:spPr>
          <a:xfrm>
            <a:off x="7580160" y="1959840"/>
            <a:ext cx="3999600" cy="4283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pt-BR" sz="2000" b="1" u="none" strike="noStrike">
                <a:solidFill>
                  <a:srgbClr val="1C7293"/>
                </a:solidFill>
                <a:effectLst/>
                <a:uFillTx/>
                <a:latin typeface="Cambria"/>
              </a:rPr>
              <a:t>Leitura do gráfico: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</a:pPr>
            <a:r>
              <a:rPr lang="pt-BR" sz="1600" b="0" u="none" strike="noStrike">
                <a:solidFill>
                  <a:srgbClr val="1E2933"/>
                </a:solidFill>
                <a:effectLst/>
                <a:uFillTx/>
                <a:latin typeface="Calibri"/>
              </a:rPr>
              <a:t>Azul = eficiência da forte (trabalho fixo). Amarelo = eficiência da fraca. 100% = o tempo não cresce ao colocar mais threads. A linha pontilhada em 6 marca o smt.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pt-BR" sz="2000" b="1" u="none" strike="noStrike">
                <a:solidFill>
                  <a:srgbClr val="1C7293"/>
                </a:solidFill>
                <a:effectLst/>
                <a:uFillTx/>
                <a:latin typeface="Cambria"/>
              </a:rPr>
              <a:t>Regra da fraca: spp = 32 · p: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799"/>
              </a:spcAft>
            </a:pPr>
            <a:r>
              <a:rPr lang="pt-BR" sz="1600" b="0" u="none" strike="noStrike">
                <a:solidFill>
                  <a:srgbClr val="1E2933"/>
                </a:solidFill>
                <a:effectLst/>
                <a:uFillTx/>
                <a:latin typeface="Calibri"/>
              </a:rPr>
              <a:t>W e h ficam 800×600. o spp cresce com as threads porque o custo é linear em spp. O trabalho por thread permanece ~constante.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spcAft>
                <a:spcPts val="400"/>
              </a:spcAft>
            </a:pPr>
            <a:r>
              <a:rPr lang="pt-BR" sz="2000" b="1" u="none" strike="noStrike">
                <a:solidFill>
                  <a:srgbClr val="1C7293"/>
                </a:solidFill>
                <a:effectLst/>
                <a:uFillTx/>
                <a:latin typeface="Cambria"/>
              </a:rPr>
              <a:t>O que acontece:</a:t>
            </a:r>
            <a:endParaRPr lang="pt-BR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lang="pt-BR" sz="1600" b="0" u="none" strike="noStrike">
                <a:solidFill>
                  <a:srgbClr val="1E2933"/>
                </a:solidFill>
                <a:effectLst/>
                <a:uFillTx/>
                <a:latin typeface="Calibri"/>
              </a:rPr>
              <a:t>Até 4 threads a fraca quase horizontal (55,6 → 58,6 s). Em 12: 124 s (44,8%). Cada núcleo recebe duas cargas completas, então a fraca cai mais que a forte. As duas quebram no mesmo ponto: A máquina, não o algoritmo.</a:t>
            </a:r>
            <a:endParaRPr lang="pt-BR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Text 1"/>
          <p:cNvSpPr/>
          <p:nvPr/>
        </p:nvSpPr>
        <p:spPr>
          <a:xfrm>
            <a:off x="868680" y="549000"/>
            <a:ext cx="73148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2000" b="1" u="none" spc="300" strike="noStrike">
                <a:solidFill>
                  <a:srgbClr val="02C39A"/>
                </a:solidFill>
                <a:effectLst/>
                <a:uFillTx/>
                <a:latin typeface="Calibri"/>
                <a:ea typeface="Calibri"/>
              </a:rPr>
              <a:t>CONCLUSÃO</a:t>
            </a:r>
            <a:endParaRPr lang="pt-BR" sz="2000" b="0" u="none" strike="noStrike">
              <a:solidFill>
                <a:srgbClr val="02C39A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868680" y="900000"/>
            <a:ext cx="11057040" cy="12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5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000000"/>
                </a:solidFill>
                <a:effectLst/>
                <a:uFillTx/>
                <a:latin typeface="Cambria"/>
                <a:ea typeface="Cambria"/>
              </a:rPr>
              <a:t>De 54 s para 7,3 s numa máquina que já temos</a:t>
            </a:r>
            <a:endParaRPr lang="pt-B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3" name="Shape 3"/>
          <p:cNvSpPr/>
          <p:nvPr/>
        </p:nvSpPr>
        <p:spPr>
          <a:xfrm>
            <a:off x="864720" y="2520000"/>
            <a:ext cx="3428640" cy="1599840"/>
          </a:xfrm>
          <a:prstGeom prst="roundRect">
            <a:avLst>
              <a:gd name="adj" fmla="val 4571"/>
            </a:avLst>
          </a:prstGeom>
          <a:solidFill>
            <a:srgbClr val="DDD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4" name="Text 4"/>
          <p:cNvSpPr/>
          <p:nvPr/>
        </p:nvSpPr>
        <p:spPr>
          <a:xfrm>
            <a:off x="1139040" y="2702880"/>
            <a:ext cx="2925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2C39A"/>
                </a:solidFill>
                <a:effectLst/>
                <a:uFillTx/>
                <a:latin typeface="Cambria"/>
                <a:ea typeface="Cambria"/>
              </a:rPr>
              <a:t>7,44×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5"/>
          <p:cNvSpPr/>
          <p:nvPr/>
        </p:nvSpPr>
        <p:spPr>
          <a:xfrm>
            <a:off x="1139040" y="343440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Speed-up em 12 threads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6"/>
          <p:cNvSpPr/>
          <p:nvPr/>
        </p:nvSpPr>
        <p:spPr>
          <a:xfrm>
            <a:off x="4568040" y="2520000"/>
            <a:ext cx="3428640" cy="1599840"/>
          </a:xfrm>
          <a:prstGeom prst="roundRect">
            <a:avLst>
              <a:gd name="adj" fmla="val 4571"/>
            </a:avLst>
          </a:prstGeom>
          <a:solidFill>
            <a:srgbClr val="DDD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7" name="Text 7"/>
          <p:cNvSpPr/>
          <p:nvPr/>
        </p:nvSpPr>
        <p:spPr>
          <a:xfrm>
            <a:off x="4842360" y="2702880"/>
            <a:ext cx="2925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rgbClr val="02C39A"/>
                </a:solidFill>
                <a:effectLst/>
                <a:uFillTx/>
                <a:latin typeface="Cambria"/>
                <a:ea typeface="Cambria"/>
              </a:rPr>
              <a:t>82,2%</a:t>
            </a:r>
            <a:endParaRPr lang="pt-BR" sz="4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8"/>
          <p:cNvSpPr/>
          <p:nvPr/>
        </p:nvSpPr>
        <p:spPr>
          <a:xfrm>
            <a:off x="4842360" y="343440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Eficiência em 6 núcleos físicos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Shape 9"/>
          <p:cNvSpPr/>
          <p:nvPr/>
        </p:nvSpPr>
        <p:spPr>
          <a:xfrm>
            <a:off x="8271360" y="2520000"/>
            <a:ext cx="3428640" cy="1599840"/>
          </a:xfrm>
          <a:prstGeom prst="roundRect">
            <a:avLst>
              <a:gd name="adj" fmla="val 4571"/>
            </a:avLst>
          </a:prstGeom>
          <a:solidFill>
            <a:srgbClr val="DDDDD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pPr/>
            <a:endParaRPr lang="pt-BR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90" name="Text 10"/>
          <p:cNvSpPr/>
          <p:nvPr/>
        </p:nvSpPr>
        <p:spPr>
          <a:xfrm>
            <a:off x="8545680" y="2702880"/>
            <a:ext cx="292572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3600" b="1" u="none" strike="noStrike">
                <a:solidFill>
                  <a:srgbClr val="02C39A"/>
                </a:solidFill>
                <a:effectLst/>
                <a:uFillTx/>
                <a:latin typeface="Cambria"/>
                <a:ea typeface="Cambria"/>
              </a:rPr>
              <a:t>Dynamic, 4</a:t>
            </a:r>
            <a:endParaRPr lang="pt-BR" sz="3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11"/>
          <p:cNvSpPr/>
          <p:nvPr/>
        </p:nvSpPr>
        <p:spPr>
          <a:xfrm>
            <a:off x="8545680" y="3434400"/>
            <a:ext cx="292572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ctr">
            <a:noAutofit/>
          </a:bodyPr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800" b="0" u="none" strike="noStrike">
                <a:solidFill>
                  <a:srgbClr val="000000"/>
                </a:solidFill>
                <a:effectLst/>
                <a:uFillTx/>
                <a:latin typeface="Calibri"/>
                <a:ea typeface="Calibri"/>
              </a:rPr>
              <a:t>Política escolhida por medição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12"/>
          <p:cNvSpPr/>
          <p:nvPr/>
        </p:nvSpPr>
        <p:spPr>
          <a:xfrm>
            <a:off x="868680" y="4471560"/>
            <a:ext cx="10606680" cy="1828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marL="457200" lvl="1" indent="-216000" defTabSz="914400">
              <a:lnSpc>
                <a:spcPct val="100000"/>
              </a:lnSpc>
              <a:spcAft>
                <a:spcPts val="79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O que os números dizem: de 54 s para 7,3 s (7,44×) numa máquina que já temos. O ponto doce são os 6 núcleos físicos (82,2%). As 12 threads lógicas ainda ajudam, mas com eficiência 62%.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16000" defTabSz="914400">
              <a:lnSpc>
                <a:spcPct val="100000"/>
              </a:lnSpc>
              <a:spcAft>
                <a:spcPts val="79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 saturação não é amdahl. f = 0,982 permitiria ~10× em 12 threads; medimos 7,44×. A causa é smt (duas threads disputam o ponto flutuante no mesmo núcleo) somada à preempção do wsl2. Por isso adotamos dynamic,4: Redistribui blocos quando uma thread atrasa.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lvl="1" indent="-216000" defTabSz="914400">
              <a:lnSpc>
                <a:spcPct val="100000"/>
              </a:lnSpc>
              <a:spcAft>
                <a:spcPts val="799"/>
              </a:spcAft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pt-BR" sz="1800" b="0" u="none" strike="noStrike">
                <a:solidFill>
                  <a:srgbClr val="000000"/>
                </a:solidFill>
                <a:effectLst/>
                <a:uFillTx/>
                <a:latin typeface="Calibri"/>
              </a:rPr>
              <a:t>A versão paralela é equivalente à sequencial (checksum rgb idêntico de 1 a 12 threads e nas 7 políticas). Tudo reproduzível: make all, scripts/run_all.sh e scripts/plot.py.</a:t>
            </a:r>
            <a:endParaRPr lang="pt-BR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 pitchFamily="0" charset="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 pitchFamily="0" charset="1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LibreOffice/26.8.0.3$Windows_X86_64 LibreOffice_project/bce0998afefdbc355585ca324285661a2170ba77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2026-09-08T22:53:57Z</dcterms:created>
  <dc:creator>PptxGenJS</dc:creator>
  <dc:description/>
  <dc:language>pt-BR</dc:language>
  <cp:lastModifiedBy/>
  <cp:lastPrinted>2026-09-14T20:22:38Z</cp:lastPrinted>
  <dcterms:modified xsi:type="dcterms:W3CDTF">2026-09-14T20:23:54Z</dcterms:modified>
  <cp:revision>5</cp:revision>
  <dc:subject>PptxGenJS Presentation</dc:subject>
  <dc:title>PptxGenJS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