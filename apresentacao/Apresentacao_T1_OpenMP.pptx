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mover o slide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1CC1D0E-06BA-4B1A-B23B-CD0C7E3F7583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AB18C1-64BD-4221-ADEF-093F85F3E2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241D8F-969F-402C-9AB2-B240904210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FC464B-D34E-42DE-99B4-2F15BEA370D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584D38-ACDF-4527-9B1F-E73374CC7B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0359DB-D260-43AA-85B0-23ABD6187F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CC4ED9-26FF-4464-BB62-48C7913EFC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67247D-EFF4-4487-8C41-AC86261D9D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8970AF-7065-4949-A63B-DD3AAE490F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FEBEFC-974D-453E-B479-F8B6864897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do texto do título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2"/>
          <p:cNvSpPr/>
          <p:nvPr/>
        </p:nvSpPr>
        <p:spPr>
          <a:xfrm>
            <a:off x="822960" y="1051560"/>
            <a:ext cx="9143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T1  - COMPUTAÇÃO PARALELA 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77240" y="1600200"/>
            <a:ext cx="102405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5500" b="1" u="none" strike="noStrike">
                <a:solidFill>
                  <a:srgbClr val="000000"/>
                </a:solidFill>
                <a:effectLst/>
                <a:uFillTx/>
                <a:latin typeface="Cambria"/>
                <a:ea typeface="Cambria"/>
              </a:rPr>
              <a:t>Paralelização de uma aplicação</a:t>
            </a:r>
            <a:endParaRPr lang="pt-BR" sz="5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5500" b="1" u="none" strike="noStrike">
                <a:solidFill>
                  <a:srgbClr val="000000"/>
                </a:solidFill>
                <a:effectLst/>
                <a:uFillTx/>
                <a:latin typeface="Cambria"/>
                <a:ea typeface="Cambria"/>
              </a:rPr>
              <a:t>com OpenMP</a:t>
            </a:r>
            <a:endParaRPr lang="pt-BR" sz="5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822960" y="3886200"/>
            <a:ext cx="98748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Um path tracer estilo smallpt (Kevin Beason) e renderização Monte Carlo de uma Cornell Box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822960" y="5212080"/>
            <a:ext cx="7314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Bernardo Klein Heitz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822960" y="557784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5C6B7A"/>
                </a:solidFill>
                <a:effectLst/>
                <a:uFillTx/>
                <a:latin typeface="Calibri"/>
                <a:ea typeface="Calibri"/>
              </a:rPr>
              <a:t>AMD Ryzen 5 3600 (6 núcleos / 12 threads)  ·  gcc 11.4  ·  Ubuntu 22.04 (WSL2)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822960" y="180000"/>
            <a:ext cx="566280" cy="5662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 1"/>
          <p:cNvSpPr/>
          <p:nvPr/>
        </p:nvSpPr>
        <p:spPr>
          <a:xfrm>
            <a:off x="822960" y="1800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1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1600200" y="24408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A APLICAÇÃO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1338120" y="360000"/>
            <a:ext cx="96004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u="none" strike="noStrike">
                <a:solidFill>
                  <a:srgbClr val="1E2933"/>
                </a:solidFill>
                <a:effectLst/>
                <a:uFillTx/>
                <a:latin typeface="Cambria"/>
                <a:ea typeface="Cambria"/>
              </a:rPr>
              <a:t>O que é o smallpt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Box 5"/>
          <p:cNvSpPr/>
          <p:nvPr/>
        </p:nvSpPr>
        <p:spPr>
          <a:xfrm>
            <a:off x="180000" y="1440000"/>
            <a:ext cx="6299640" cy="435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defTabSz="914400">
              <a:lnSpc>
                <a:spcPct val="100000"/>
              </a:lnSpc>
              <a:spcAft>
                <a:spcPts val="799"/>
              </a:spcAft>
              <a:buClr>
                <a:srgbClr val="1E2933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Path tracer mínimo do kevin beason (2008), reescrito em c11 (padrao iso da linguagem c de 2011). Não é um motor de jogos: É um integrador de luz.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799"/>
              </a:spcAft>
              <a:buClr>
                <a:srgbClr val="1E2933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Para cada pixel, o programa dispara raios da câmera, deixa ricochetear na cena e soma a cor da luz que o caminho coletou. Um único caminho é ruidoso; A média de muitos caminhos vira a imagem.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799"/>
              </a:spcAft>
              <a:buClr>
                <a:srgbClr val="1E2933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 cena é a cornell box: Parede vermelha, parede azul, esfera de espelho, esfera de vidro e luz no teto. As “paredes” são esferas gigantes.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E2933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Entrada: -w largura, -h altura, -s spp (amostras por subpixel). Custo proporcional a w · h · spp. referência: 800×600, spp=32 → T1 ≈ 54 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Picture 6" descr="17_render_referencia_800x600_spp32.png"/>
          <p:cNvPicPr/>
          <p:nvPr/>
        </p:nvPicPr>
        <p:blipFill>
          <a:blip r:embed="rId1"/>
          <a:stretch/>
        </p:blipFill>
        <p:spPr>
          <a:xfrm>
            <a:off x="6480360" y="1360800"/>
            <a:ext cx="5399280" cy="319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Rounded Rectangle 7"/>
          <p:cNvSpPr/>
          <p:nvPr/>
        </p:nvSpPr>
        <p:spPr>
          <a:xfrm>
            <a:off x="6480360" y="4740480"/>
            <a:ext cx="5399280" cy="1199160"/>
          </a:xfrm>
          <a:prstGeom prst="roundRect">
            <a:avLst>
              <a:gd name="adj" fmla="val 8000"/>
            </a:avLst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pt-BR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" name="TextBox 8"/>
          <p:cNvSpPr/>
          <p:nvPr/>
        </p:nvSpPr>
        <p:spPr>
          <a:xfrm>
            <a:off x="6680520" y="4860720"/>
            <a:ext cx="499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por que este programa    T1 ≈ 54 s    1 laço por linha não trivial (espelho, vidro, monte carlo)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1"/>
          <p:cNvSpPr/>
          <p:nvPr/>
        </p:nvSpPr>
        <p:spPr>
          <a:xfrm>
            <a:off x="822960" y="136440"/>
            <a:ext cx="566280" cy="56628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pt-BR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" name="TextBox 2"/>
          <p:cNvSpPr/>
          <p:nvPr/>
        </p:nvSpPr>
        <p:spPr>
          <a:xfrm>
            <a:off x="822960" y="1800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2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Box 3"/>
          <p:cNvSpPr/>
          <p:nvPr/>
        </p:nvSpPr>
        <p:spPr>
          <a:xfrm>
            <a:off x="1600200" y="244080"/>
            <a:ext cx="979920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2C39A"/>
                </a:solidFill>
                <a:effectLst/>
                <a:uFillTx/>
                <a:latin typeface="Calibri"/>
              </a:rPr>
              <a:t>A APLICAÇÃO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Box 4"/>
          <p:cNvSpPr/>
          <p:nvPr/>
        </p:nvSpPr>
        <p:spPr>
          <a:xfrm>
            <a:off x="1279080" y="527400"/>
            <a:ext cx="10240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54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Como um pixel ganha cor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Picture 5" descr="04_path_tracing_rotulado.png"/>
          <p:cNvPicPr/>
          <p:nvPr/>
        </p:nvPicPr>
        <p:blipFill>
          <a:blip r:embed="rId1"/>
          <a:stretch/>
        </p:blipFill>
        <p:spPr>
          <a:xfrm>
            <a:off x="141120" y="1620000"/>
            <a:ext cx="6908400" cy="474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TextBox 6"/>
          <p:cNvSpPr/>
          <p:nvPr/>
        </p:nvSpPr>
        <p:spPr>
          <a:xfrm>
            <a:off x="7300080" y="1620000"/>
            <a:ext cx="4759560" cy="413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Path tracing: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pt-BR" sz="16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O raio sai da câmera, atravessa um pixel da imagem e rebate na cena. Em parede difusa o próximo rumo é aleatório; No espelho reflete; No vidro pode refratar. A cor do pixel é a luz acumulada nesse caminho.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Monte carlo: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pt-BR" sz="16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Estima um integral difícil (a luz que chega no pixel) pela média de amostras aleatórias. Um caminho só é uma amostra ruim; Milhares no mesmo pixel convergem para a imagem certa.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-w  -h  -s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-w = largura em pixels. -h = altura. -s = spp = amostras por subpixel (há 2×2 subpixels, então 4·spp caminhos por pixel). Dobrar o spp dobra o tempo.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Oval 1"/>
          <p:cNvSpPr/>
          <p:nvPr/>
        </p:nvSpPr>
        <p:spPr>
          <a:xfrm>
            <a:off x="822960" y="251640"/>
            <a:ext cx="566280" cy="56628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pt-BR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" name="TextBox 2"/>
          <p:cNvSpPr/>
          <p:nvPr/>
        </p:nvSpPr>
        <p:spPr>
          <a:xfrm>
            <a:off x="822960" y="25164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3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Box 3"/>
          <p:cNvSpPr/>
          <p:nvPr/>
        </p:nvSpPr>
        <p:spPr>
          <a:xfrm>
            <a:off x="1600200" y="315720"/>
            <a:ext cx="979920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2C39A"/>
                </a:solidFill>
                <a:effectLst/>
                <a:uFillTx/>
                <a:latin typeface="Calibri"/>
              </a:rPr>
              <a:t>A APLICAÇÃO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Box 4"/>
          <p:cNvSpPr/>
          <p:nvPr/>
        </p:nvSpPr>
        <p:spPr>
          <a:xfrm>
            <a:off x="1260000" y="720000"/>
            <a:ext cx="102405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40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Renderização: mais amostras, menos ruído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Picture 5" descr="render_spp1.png"/>
          <p:cNvPicPr/>
          <p:nvPr/>
        </p:nvPicPr>
        <p:blipFill>
          <a:blip r:embed="rId1"/>
          <a:stretch/>
        </p:blipFill>
        <p:spPr>
          <a:xfrm>
            <a:off x="600120" y="1700280"/>
            <a:ext cx="3499200" cy="279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Box 6"/>
          <p:cNvSpPr/>
          <p:nvPr/>
        </p:nvSpPr>
        <p:spPr>
          <a:xfrm>
            <a:off x="600120" y="4799880"/>
            <a:ext cx="349920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spp = 1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4 caminhos/pixel. Quase só ruído: a média ainda não estabilizou.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Picture 7" descr="render_spp4.png"/>
          <p:cNvPicPr/>
          <p:nvPr/>
        </p:nvPicPr>
        <p:blipFill>
          <a:blip r:embed="rId2"/>
          <a:stretch/>
        </p:blipFill>
        <p:spPr>
          <a:xfrm>
            <a:off x="4299840" y="1700280"/>
            <a:ext cx="3499200" cy="279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TextBox 8"/>
          <p:cNvSpPr/>
          <p:nvPr/>
        </p:nvSpPr>
        <p:spPr>
          <a:xfrm>
            <a:off x="4299840" y="4799880"/>
            <a:ext cx="349920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spp = 4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16 caminhos/pixel. A sala aparece, mas o granulado continua forte.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Picture 9" descr="render_spp32.png"/>
          <p:cNvPicPr/>
          <p:nvPr/>
        </p:nvPicPr>
        <p:blipFill>
          <a:blip r:embed="rId3"/>
          <a:stretch/>
        </p:blipFill>
        <p:spPr>
          <a:xfrm>
            <a:off x="7999920" y="1700280"/>
            <a:ext cx="3499200" cy="279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Box 10"/>
          <p:cNvSpPr/>
          <p:nvPr/>
        </p:nvSpPr>
        <p:spPr>
          <a:xfrm>
            <a:off x="7999920" y="4799880"/>
            <a:ext cx="349920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spp = 32  (referência)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128 caminhos/pixel. Mesma entrada do relatório. T1 ≈ 54 s.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0"/>
          <p:cNvSpPr/>
          <p:nvPr/>
        </p:nvSpPr>
        <p:spPr>
          <a:xfrm>
            <a:off x="822960" y="200880"/>
            <a:ext cx="566280" cy="5662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Text 1"/>
          <p:cNvSpPr/>
          <p:nvPr/>
        </p:nvSpPr>
        <p:spPr>
          <a:xfrm>
            <a:off x="822960" y="18072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4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"/>
          <p:cNvSpPr/>
          <p:nvPr/>
        </p:nvSpPr>
        <p:spPr>
          <a:xfrm>
            <a:off x="1600200" y="24480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PERFIL DE EXECUÇÃO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"/>
          <p:cNvSpPr/>
          <p:nvPr/>
        </p:nvSpPr>
        <p:spPr>
          <a:xfrm>
            <a:off x="1389600" y="525960"/>
            <a:ext cx="102405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40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Onde paralelizar: teto de Amdahl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5" descr="13_gprof.png"/>
          <p:cNvPicPr/>
          <p:nvPr/>
        </p:nvPicPr>
        <p:blipFill>
          <a:blip r:embed="rId1"/>
          <a:stretch/>
        </p:blipFill>
        <p:spPr>
          <a:xfrm>
            <a:off x="360000" y="1589040"/>
            <a:ext cx="5939640" cy="471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Rounded Rectangle 6"/>
          <p:cNvSpPr/>
          <p:nvPr/>
        </p:nvSpPr>
        <p:spPr>
          <a:xfrm>
            <a:off x="6500160" y="1900080"/>
            <a:ext cx="5199120" cy="4599360"/>
          </a:xfrm>
          <a:prstGeom prst="roundRect">
            <a:avLst>
              <a:gd name="adj" fmla="val 8000"/>
            </a:avLst>
          </a:prstGeom>
          <a:solidFill>
            <a:srgbClr val="DDDDDD"/>
          </a:solidFill>
          <a:ln w="12700">
            <a:solidFill>
              <a:srgbClr val="E3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pt-BR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" name="TextBox 7"/>
          <p:cNvSpPr/>
          <p:nvPr/>
        </p:nvSpPr>
        <p:spPr>
          <a:xfrm>
            <a:off x="6699960" y="2000160"/>
            <a:ext cx="4849200" cy="43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Leitura do gráfico: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Tempo próprio do gprof na versão sequencial. Quase tudo (interseção, vetores, radiance, rng) é chamado de dentro do laço em y. Só o main (~1,8%) fica de fora: Setup e checksum.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O que é o teto de amdahl: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Uma fatia do programa continua serial e não encolhe com mais threads. O speed-up máximo é S(p) = 1 / ((1−f) + f/p).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Aqui f ≈ 0,982. Teto: 5,51 em 6 threads e 10 em 12. Medimos 7,44× em 12, abaixo de 10: a saturação não é essa fatia serial.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0"/>
          <p:cNvSpPr/>
          <p:nvPr/>
        </p:nvSpPr>
        <p:spPr>
          <a:xfrm>
            <a:off x="720000" y="282600"/>
            <a:ext cx="566280" cy="5662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Text 1"/>
          <p:cNvSpPr/>
          <p:nvPr/>
        </p:nvSpPr>
        <p:spPr>
          <a:xfrm>
            <a:off x="720000" y="24192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5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"/>
          <p:cNvSpPr/>
          <p:nvPr/>
        </p:nvSpPr>
        <p:spPr>
          <a:xfrm>
            <a:off x="1497240" y="30600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ESTRATÉGIA DE PARALELIZAÇÃO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3"/>
          <p:cNvSpPr/>
          <p:nvPr/>
        </p:nvSpPr>
        <p:spPr>
          <a:xfrm>
            <a:off x="1356120" y="448560"/>
            <a:ext cx="102405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1E2933"/>
                </a:solidFill>
                <a:effectLst/>
                <a:uFillTx/>
                <a:latin typeface="Cambria"/>
                <a:ea typeface="Cambria"/>
              </a:rPr>
              <a:t>Unidade de trabalho: uma linha da imagem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Picture 5" descr="11_eixo_paralelismo.png"/>
          <p:cNvPicPr/>
          <p:nvPr/>
        </p:nvPicPr>
        <p:blipFill>
          <a:blip r:embed="rId1"/>
          <a:stretch/>
        </p:blipFill>
        <p:spPr>
          <a:xfrm>
            <a:off x="1800000" y="1260000"/>
            <a:ext cx="8999640" cy="39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TextBox 6"/>
          <p:cNvSpPr/>
          <p:nvPr/>
        </p:nvSpPr>
        <p:spPr>
          <a:xfrm>
            <a:off x="661320" y="5279040"/>
            <a:ext cx="5399280" cy="13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8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static (esquerda):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Parte a imagem em faixas contíguas e fixas. A thread 0 fica com o chão (y=0), a última com o teto. Se uma thread atrasa, no wsl2, isso acontece por preempção e o bloco inteiro dela trava e as outras não pegam o trabalho dela.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Box 7"/>
          <p:cNvSpPr/>
          <p:nvPr/>
        </p:nvSpPr>
        <p:spPr>
          <a:xfrm>
            <a:off x="6261120" y="5279040"/>
            <a:ext cx="5399280" cy="13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8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dynamic,4 (direita):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As linhas entram num estoque comum em blocos de 4. A thread que termina pega o próximo bloco. O atraso de uma é absorvido pelas outras. Foi a política adotada. Cada linha continua independente: Escrita só em c[y·w+x], rng privado, sem atomic.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0"/>
          <p:cNvSpPr/>
          <p:nvPr/>
        </p:nvSpPr>
        <p:spPr>
          <a:xfrm>
            <a:off x="802800" y="227880"/>
            <a:ext cx="566280" cy="5662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1"/>
          <p:cNvSpPr/>
          <p:nvPr/>
        </p:nvSpPr>
        <p:spPr>
          <a:xfrm>
            <a:off x="812880" y="1800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6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1590120" y="24408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DIRETIVAS OPENMP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3"/>
          <p:cNvSpPr/>
          <p:nvPr/>
        </p:nvSpPr>
        <p:spPr>
          <a:xfrm>
            <a:off x="1449000" y="525960"/>
            <a:ext cx="102405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mbria"/>
                <a:ea typeface="Cambria"/>
              </a:rPr>
              <a:t>As cláusulas e o porquê de cada uma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4"/>
          <p:cNvSpPr/>
          <p:nvPr/>
        </p:nvSpPr>
        <p:spPr>
          <a:xfrm>
            <a:off x="868680" y="2160000"/>
            <a:ext cx="6400080" cy="3959640"/>
          </a:xfrm>
          <a:prstGeom prst="roundRect">
            <a:avLst>
              <a:gd name="adj" fmla="val 1538"/>
            </a:avLst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Text 5"/>
          <p:cNvSpPr/>
          <p:nvPr/>
        </p:nvSpPr>
        <p:spPr>
          <a:xfrm>
            <a:off x="1234440" y="2331720"/>
            <a:ext cx="5760000" cy="35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#pragma omp parallel default(none) \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shared(a, c, cam_o, cam_d, cx, cy,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       stat, threads_used)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#pragma omp for schedule(runtime) nowait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for (int y = 0; y &lt; a.h; ++y) {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  Rng rng;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  rng.s = a.seed ^ ((y+1)*0x9E37...);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  for (int x = 0; x &lt; a.w; ++x) { ... }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6"/>
          <p:cNvSpPr/>
          <p:nvPr/>
        </p:nvSpPr>
        <p:spPr>
          <a:xfrm>
            <a:off x="7560360" y="1654560"/>
            <a:ext cx="4319640" cy="39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pt-BR" sz="2100" b="1" u="none" strike="noStrike">
                <a:solidFill>
                  <a:srgbClr val="02C39A"/>
                </a:solidFill>
                <a:effectLst/>
                <a:uFillTx/>
                <a:latin typeface="Calibri"/>
              </a:rPr>
              <a:t>default(none):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Obriga declarar o escopo. Se algo deveria ser private e ficou de fora, o compilador recusa.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pt-BR" sz="2100" b="1" u="none" strike="noStrike">
                <a:solidFill>
                  <a:srgbClr val="02C39A"/>
                </a:solidFill>
                <a:effectLst/>
                <a:uFillTx/>
                <a:latin typeface="Calibri"/>
              </a:rPr>
              <a:t>Shared: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Só o que todas leem: entrada, câmera, buffer c (cada thread escreve numa faixa só sua) e stat[tid] com padding de 64 B.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pt-BR" sz="2100" b="1" u="none" strike="noStrike">
                <a:solidFill>
                  <a:srgbClr val="02C39A"/>
                </a:solidFill>
                <a:effectLst/>
                <a:uFillTx/>
                <a:latin typeface="Calibri"/>
              </a:rPr>
              <a:t>schedule(runtime) e nowait: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 política vem de OMP_SCHEDULE, sem recompilar. Nowait tira a barreira: O tempo da thread é a carga real. Sem reduction: O checksum é depois do laço.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670680" y="187200"/>
            <a:ext cx="566280" cy="5662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Text 1"/>
          <p:cNvSpPr/>
          <p:nvPr/>
        </p:nvSpPr>
        <p:spPr>
          <a:xfrm>
            <a:off x="670680" y="18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7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"/>
          <p:cNvSpPr/>
          <p:nvPr/>
        </p:nvSpPr>
        <p:spPr>
          <a:xfrm>
            <a:off x="1447920" y="25128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DECISÃO EMPÍRICA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"/>
          <p:cNvSpPr/>
          <p:nvPr/>
        </p:nvSpPr>
        <p:spPr>
          <a:xfrm>
            <a:off x="1107720" y="533160"/>
            <a:ext cx="104234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E2933"/>
                </a:solidFill>
                <a:effectLst/>
                <a:uFillTx/>
                <a:latin typeface="Cambria"/>
                <a:ea typeface="Cambria"/>
              </a:rPr>
              <a:t>7 políticas testadas, 12 threads e 10 execuções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Picture 5" descr="16_schedule.png"/>
          <p:cNvPicPr/>
          <p:nvPr/>
        </p:nvPicPr>
        <p:blipFill>
          <a:blip r:embed="rId1"/>
          <a:stretch/>
        </p:blipFill>
        <p:spPr>
          <a:xfrm>
            <a:off x="180000" y="1447200"/>
            <a:ext cx="6917400" cy="513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Rounded Rectangle 6"/>
          <p:cNvSpPr/>
          <p:nvPr/>
        </p:nvSpPr>
        <p:spPr>
          <a:xfrm>
            <a:off x="6800040" y="1900080"/>
            <a:ext cx="4899240" cy="4599360"/>
          </a:xfrm>
          <a:prstGeom prst="roundRect">
            <a:avLst>
              <a:gd name="adj" fmla="val 8000"/>
            </a:avLst>
          </a:prstGeom>
          <a:solidFill>
            <a:srgbClr val="DDDDDD"/>
          </a:solidFill>
          <a:ln w="12700">
            <a:solidFill>
              <a:srgbClr val="E3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pt-BR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7"/>
          <p:cNvSpPr/>
          <p:nvPr/>
        </p:nvSpPr>
        <p:spPr>
          <a:xfrm>
            <a:off x="6999840" y="2000160"/>
            <a:ext cx="4549320" cy="40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Leitura do gráfico</a:t>
            </a:r>
            <a:r>
              <a:rPr lang="pt-BR" sz="18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: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Mediana de 10 execuções em 12 threads. A haste é o intervalo min–max. Barra mais baixa e haste curta = mais rápido e mais estável.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Por que dynamic,4 (verde):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Menor mediana (7,16 s) e menor dispersão. Static sem chunk é o mais lento e instável: no wsl2, uma thread atrasada segura o bloco inteiro. Dynamic,4 reparte de 4 em 4 linhas e absorve o atraso.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 desequilíbrio do algoritmo é &lt; 1%. O que pesa é a preempção do sistema, não o espelho versus o fundo.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0"/>
          <p:cNvSpPr/>
          <p:nvPr/>
        </p:nvSpPr>
        <p:spPr>
          <a:xfrm>
            <a:off x="720000" y="180000"/>
            <a:ext cx="566280" cy="5662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 1"/>
          <p:cNvSpPr/>
          <p:nvPr/>
        </p:nvSpPr>
        <p:spPr>
          <a:xfrm>
            <a:off x="720000" y="1800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8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"/>
          <p:cNvSpPr/>
          <p:nvPr/>
        </p:nvSpPr>
        <p:spPr>
          <a:xfrm>
            <a:off x="1497240" y="24408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RESULTADOS: ESCALABILIDADE FORTE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3"/>
          <p:cNvSpPr/>
          <p:nvPr/>
        </p:nvSpPr>
        <p:spPr>
          <a:xfrm>
            <a:off x="977040" y="555840"/>
            <a:ext cx="104234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1E2933"/>
                </a:solidFill>
                <a:effectLst/>
                <a:uFillTx/>
                <a:latin typeface="Cambria"/>
                <a:ea typeface="Cambria"/>
              </a:rPr>
              <a:t>Speed-up: acompanha Amdahl até 6 threads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Picture 5" descr="14_speedup.png"/>
          <p:cNvPicPr/>
          <p:nvPr/>
        </p:nvPicPr>
        <p:blipFill>
          <a:blip r:embed="rId1"/>
          <a:stretch/>
        </p:blipFill>
        <p:spPr>
          <a:xfrm>
            <a:off x="180000" y="1469880"/>
            <a:ext cx="7405920" cy="50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Rounded Rectangle 6"/>
          <p:cNvSpPr/>
          <p:nvPr/>
        </p:nvSpPr>
        <p:spPr>
          <a:xfrm>
            <a:off x="7400160" y="1879920"/>
            <a:ext cx="4299120" cy="4599360"/>
          </a:xfrm>
          <a:prstGeom prst="roundRect">
            <a:avLst>
              <a:gd name="adj" fmla="val 8000"/>
            </a:avLst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pt-BR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7580160" y="1980000"/>
            <a:ext cx="3999240" cy="403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000" b="1" u="none" strike="noStrike">
                <a:solidFill>
                  <a:srgbClr val="02C39A"/>
                </a:solidFill>
                <a:effectLst/>
                <a:uFillTx/>
                <a:latin typeface="Cambria"/>
              </a:rPr>
              <a:t>Leitura do gráfico: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Eixo x = threads (1, 2, 4, 6, 8, 10, 12). Linha cinza = speed-up ideal (y = p). azul = mediana medida. faixa clara = min/max das 10 execuções. Linha pontilhada em 6 = início do smt.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000" b="1" u="none" strike="noStrike">
                <a:solidFill>
                  <a:srgbClr val="02C39A"/>
                </a:solidFill>
                <a:effectLst/>
                <a:uFillTx/>
                <a:latin typeface="Cambria"/>
              </a:rPr>
              <a:t>Até 6 núcleos físicos: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4,93× contra o teto 5,51 (eficiência 82%). A curva ainda acompanha o ideal.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000" b="1" u="none" strike="noStrike">
                <a:solidFill>
                  <a:srgbClr val="02C39A"/>
                </a:solidFill>
                <a:effectLst/>
                <a:uFillTx/>
                <a:latin typeface="Cambria"/>
              </a:rPr>
              <a:t>Depois de 6: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Duas threads no mesmo núcleo disputam o ponto flutuante. Em 12: 7,44× e 62%. 7,44 é menor que o teto 10, então a quebra é smt, não amdahl.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0"/>
          <p:cNvSpPr/>
          <p:nvPr/>
        </p:nvSpPr>
        <p:spPr>
          <a:xfrm>
            <a:off x="822960" y="360000"/>
            <a:ext cx="566280" cy="5662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 1"/>
          <p:cNvSpPr/>
          <p:nvPr/>
        </p:nvSpPr>
        <p:spPr>
          <a:xfrm>
            <a:off x="822960" y="3600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9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"/>
          <p:cNvSpPr/>
          <p:nvPr/>
        </p:nvSpPr>
        <p:spPr>
          <a:xfrm>
            <a:off x="1600200" y="42408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RESULTADOS: ESCALABILIDADE FRACA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1080000" y="705960"/>
            <a:ext cx="104234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1E2933"/>
                </a:solidFill>
                <a:effectLst/>
                <a:uFillTx/>
                <a:latin typeface="Cambria"/>
                <a:ea typeface="Cambria"/>
              </a:rPr>
              <a:t>Eficiência: ambas quebram ao entrar no SMT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Picture 5" descr="15_eficiencia.png"/>
          <p:cNvPicPr/>
          <p:nvPr/>
        </p:nvPicPr>
        <p:blipFill>
          <a:blip r:embed="rId1"/>
          <a:stretch/>
        </p:blipFill>
        <p:spPr>
          <a:xfrm>
            <a:off x="220320" y="1440000"/>
            <a:ext cx="7450200" cy="503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Rounded Rectangle 6"/>
          <p:cNvSpPr/>
          <p:nvPr/>
        </p:nvSpPr>
        <p:spPr>
          <a:xfrm>
            <a:off x="7400160" y="1879920"/>
            <a:ext cx="4299120" cy="4599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pt-BR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7580160" y="1959840"/>
            <a:ext cx="3999240" cy="42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0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Leitura do gráfico: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6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Azul = eficiência da forte (trabalho fixo). Amarelo = eficiência da fraca. 100% = o tempo não cresce ao colocar mais threads. A linha pontilhada em 6 marca o smt.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0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Regra da fraca: spp = 32 · p: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6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W e h ficam 800×600. O spp sobe com p porque o custo é O(w·h·spp). O trabalho por thread quase não muda.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0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O que acontece: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Até 4 threads o tempo quase não sobe (55,6 para 58,6 s). Em 12: 124 s (45%). Cada núcleo carrega duas tarefas, por isso a fraca cai mais que a forte. As duas quebram em 6 threads: é a máquina, não o algoritmo.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1"/>
          <p:cNvSpPr/>
          <p:nvPr/>
        </p:nvSpPr>
        <p:spPr>
          <a:xfrm>
            <a:off x="868680" y="54900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CONCLUSÃO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868680" y="900000"/>
            <a:ext cx="1105668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mbria"/>
                <a:ea typeface="Cambria"/>
              </a:rPr>
              <a:t>De 54 s para 7,3 s numa máquina que já temos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864720" y="2520000"/>
            <a:ext cx="3428280" cy="1599480"/>
          </a:xfrm>
          <a:prstGeom prst="roundRect">
            <a:avLst>
              <a:gd name="adj" fmla="val 4571"/>
            </a:avLst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4"/>
          <p:cNvSpPr/>
          <p:nvPr/>
        </p:nvSpPr>
        <p:spPr>
          <a:xfrm>
            <a:off x="1139040" y="2702880"/>
            <a:ext cx="29253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02C39A"/>
                </a:solidFill>
                <a:effectLst/>
                <a:uFillTx/>
                <a:latin typeface="Cambria"/>
                <a:ea typeface="Cambria"/>
              </a:rPr>
              <a:t>7,44×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5"/>
          <p:cNvSpPr/>
          <p:nvPr/>
        </p:nvSpPr>
        <p:spPr>
          <a:xfrm>
            <a:off x="1139040" y="3434400"/>
            <a:ext cx="29253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Speed-up em 12 threads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6"/>
          <p:cNvSpPr/>
          <p:nvPr/>
        </p:nvSpPr>
        <p:spPr>
          <a:xfrm>
            <a:off x="4568040" y="2520000"/>
            <a:ext cx="3428280" cy="1599480"/>
          </a:xfrm>
          <a:prstGeom prst="roundRect">
            <a:avLst>
              <a:gd name="adj" fmla="val 4571"/>
            </a:avLst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7"/>
          <p:cNvSpPr/>
          <p:nvPr/>
        </p:nvSpPr>
        <p:spPr>
          <a:xfrm>
            <a:off x="4842360" y="2702880"/>
            <a:ext cx="29253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2C39A"/>
                </a:solidFill>
                <a:effectLst/>
                <a:uFillTx/>
                <a:latin typeface="Cambria"/>
                <a:ea typeface="Cambria"/>
              </a:rPr>
              <a:t>82,2%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8"/>
          <p:cNvSpPr/>
          <p:nvPr/>
        </p:nvSpPr>
        <p:spPr>
          <a:xfrm>
            <a:off x="4842360" y="3434400"/>
            <a:ext cx="29253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Eficiência em 6 núcleos físicos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9"/>
          <p:cNvSpPr/>
          <p:nvPr/>
        </p:nvSpPr>
        <p:spPr>
          <a:xfrm>
            <a:off x="8271360" y="2520000"/>
            <a:ext cx="3428280" cy="1599480"/>
          </a:xfrm>
          <a:prstGeom prst="roundRect">
            <a:avLst>
              <a:gd name="adj" fmla="val 4571"/>
            </a:avLst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10"/>
          <p:cNvSpPr/>
          <p:nvPr/>
        </p:nvSpPr>
        <p:spPr>
          <a:xfrm>
            <a:off x="8545680" y="2702880"/>
            <a:ext cx="29253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02C39A"/>
                </a:solidFill>
                <a:effectLst/>
                <a:uFillTx/>
                <a:latin typeface="Cambria"/>
                <a:ea typeface="Cambria"/>
              </a:rPr>
              <a:t>Dynamic, 4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1"/>
          <p:cNvSpPr/>
          <p:nvPr/>
        </p:nvSpPr>
        <p:spPr>
          <a:xfrm>
            <a:off x="8545680" y="3434400"/>
            <a:ext cx="29253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Política escolhida por medição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2"/>
          <p:cNvSpPr/>
          <p:nvPr/>
        </p:nvSpPr>
        <p:spPr>
          <a:xfrm>
            <a:off x="868680" y="4471560"/>
            <a:ext cx="1060632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457200" lvl="1" indent="-21600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54 s vira 7,3 s (7,44×). O melhor ponto são os 6 núcleos físicos (82%). As 12 threads ainda ajudam, mas a eficiência cai a 62%.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1600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Não é amdahl: f = 0,982 daria ~10× em 12 threads; medimos 7,44×. A causa é smt (duas threads no mesmo núcleo) mais a preempção do wsl2. Dynamic,4 redistribui quando uma thread atrasa.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1600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Sequencial e paralelo dão o mesmo checksum.</a:t>
            </a: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Application>LibreOffice/26.8.0.3$Windows_X86_64 LibreOffice_project/bce0998afefdbc355585ca324285661a2170ba77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2026-09-08T22:53:57Z</dcterms:created>
  <dc:creator>PptxGenJS</dc:creator>
  <dc:description/>
  <dc:language>pt-BR</dc:language>
  <cp:lastModifiedBy/>
  <cp:lastPrinted>2026-09-14T20:22:38Z</cp:lastPrinted>
  <dcterms:modified xsi:type="dcterms:W3CDTF">2026-09-14T20:46:01Z</dcterms:modified>
  <cp:revision>6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