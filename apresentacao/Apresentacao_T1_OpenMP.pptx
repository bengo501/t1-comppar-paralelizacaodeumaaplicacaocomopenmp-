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9" r:id="rId7"/>
    <p:sldId id="260" r:id="rId8"/>
    <p:sldId id="267" r:id="rId9"/>
    <p:sldId id="268" r:id="rId10"/>
    <p:sldId id="263" r:id="rId11"/>
    <p:sldId id="264" r:id="rId12"/>
    <p:sldId id="265" r:id="rId13"/>
    <p:sldId id="266" r:id="rId1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0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mover o 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1CC1D0E-06BA-4B1A-B23B-CD0C7E3F7583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AB18C1-64BD-4221-ADEF-093F85F3E2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241D8F-969F-402C-9AB2-B240904210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FC464B-D34E-42DE-99B4-2F15BEA370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CC4ED9-26FF-4464-BB62-48C7913EFC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67247D-EFF4-4487-8C41-AC86261D9D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8970AF-7065-4949-A63B-DD3AAE490F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FEBEFC-974D-453E-B479-F8B6864897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2"/>
          <p:cNvSpPr/>
          <p:nvPr/>
        </p:nvSpPr>
        <p:spPr>
          <a:xfrm>
            <a:off x="822960" y="1051560"/>
            <a:ext cx="9143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T1 — Computação paralela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77240" y="1600200"/>
            <a:ext cx="102405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5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Cambria"/>
              </a:rPr>
              <a:t>Paralelização de uma aplicação</a:t>
            </a:r>
            <a:endParaRPr lang="pt-BR" sz="5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5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Cambria"/>
              </a:rPr>
              <a:t>com OpenMP</a:t>
            </a:r>
            <a:endParaRPr lang="pt-BR" sz="5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22960" y="3886200"/>
            <a:ext cx="98748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Smallpt: um programa que simula a luz numa sala, agora em paralelo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822960" y="5212080"/>
            <a:ext cx="7314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Bernardo Klein Heitz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822960" y="557784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5C6B7A"/>
                </a:solidFill>
                <a:effectLst/>
                <a:uFillTx/>
                <a:latin typeface="Calibri"/>
                <a:ea typeface="Calibri"/>
              </a:rPr>
              <a:t>AMD Ryzen 5 3600 (6 núcleos / 12 threads)  ·  gcc 11.4  ·  Ubuntu 22.04 (WSL2)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822960" y="1800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1"/>
          <p:cNvSpPr/>
          <p:nvPr/>
        </p:nvSpPr>
        <p:spPr>
          <a:xfrm>
            <a:off x="822960" y="1800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1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1600200" y="2440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A APLICAÇÃO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1338120" y="360000"/>
            <a:ext cx="96004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O que é o smallpt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Box 5"/>
          <p:cNvSpPr/>
          <p:nvPr/>
        </p:nvSpPr>
        <p:spPr>
          <a:xfrm>
            <a:off x="180000" y="1440000"/>
            <a:ext cx="6299640" cy="435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marL="216000" indent="-216000" defTabSz="914400">
              <a:lnSpc>
                <a:spcPct val="100000"/>
              </a:lnSpc>
              <a:spcAft>
                <a:spcPts val="799"/>
              </a:spcAft>
              <a:buClr>
                <a:srgbClr val="1E2933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 smallpt é um programa curto que simula a luz. Não é um motor de jogos: para cada pixel, dispara raios da câmera, deixa bater na cena e junta a cor que voltou.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799"/>
              </a:spcAft>
              <a:buClr>
                <a:srgbClr val="1E2933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Um raio sozinho dá uma imagem granulada. A média de muitos raios vira a foto.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799"/>
              </a:spcAft>
              <a:buClr>
                <a:srgbClr val="1E2933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 cena é uma sala: parede vermelha, parede azul, uma esfera de espelho, uma de vidro e uma luz no teto.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E2933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 tamanho entra na linha de comando: -w largura, -h altura, -s amostras. Usamos 800×600 com 32 amostras: a versão sequencial leva cerca de 54 segundos.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Picture 6" descr="17_render_referencia_800x600_spp32.png"/>
          <p:cNvPicPr/>
          <p:nvPr/>
        </p:nvPicPr>
        <p:blipFill>
          <a:blip r:embed="rId1"/>
          <a:stretch/>
        </p:blipFill>
        <p:spPr>
          <a:xfrm>
            <a:off x="6480360" y="1360800"/>
            <a:ext cx="5399280" cy="319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Rounded Rectangle 7"/>
          <p:cNvSpPr/>
          <p:nvPr/>
        </p:nvSpPr>
        <p:spPr>
          <a:xfrm>
            <a:off x="6480360" y="4740480"/>
            <a:ext cx="5399280" cy="1199160"/>
          </a:xfrm>
          <a:prstGeom prst="roundRect">
            <a:avLst>
              <a:gd name="adj" fmla="val 8000"/>
            </a:avLst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" name="TextBox 8"/>
          <p:cNvSpPr/>
          <p:nvPr/>
        </p:nvSpPr>
        <p:spPr>
          <a:xfrm>
            <a:off x="6680520" y="4860720"/>
            <a:ext cx="499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Por que este programa?   54 s no sequencial   ·   um laço por linha   ·   carga desigual (espelho e vidro)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Oval 1"/>
          <p:cNvSpPr/>
          <p:nvPr/>
        </p:nvSpPr>
        <p:spPr>
          <a:xfrm>
            <a:off x="822960" y="251640"/>
            <a:ext cx="566280" cy="56628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Box 2"/>
          <p:cNvSpPr/>
          <p:nvPr/>
        </p:nvSpPr>
        <p:spPr>
          <a:xfrm>
            <a:off x="822960" y="25164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2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3"/>
          <p:cNvSpPr/>
          <p:nvPr/>
        </p:nvSpPr>
        <p:spPr>
          <a:xfrm>
            <a:off x="1600200" y="315720"/>
            <a:ext cx="979920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2C39A"/>
                </a:solidFill>
                <a:effectLst/>
                <a:uFillTx/>
                <a:latin typeface="Calibri"/>
              </a:rPr>
              <a:t>A APLICAÇÃO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Box 4"/>
          <p:cNvSpPr/>
          <p:nvPr/>
        </p:nvSpPr>
        <p:spPr>
          <a:xfrm>
            <a:off x="1260000" y="720000"/>
            <a:ext cx="102405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40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Mais amostras, menos ruído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Picture 5" descr="render_spp1.png"/>
          <p:cNvPicPr/>
          <p:nvPr/>
        </p:nvPicPr>
        <p:blipFill>
          <a:blip r:embed="rId1"/>
          <a:stretch/>
        </p:blipFill>
        <p:spPr>
          <a:xfrm>
            <a:off x="600120" y="1700280"/>
            <a:ext cx="3499200" cy="279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Box 6"/>
          <p:cNvSpPr/>
          <p:nvPr/>
        </p:nvSpPr>
        <p:spPr>
          <a:xfrm>
            <a:off x="600120" y="4799880"/>
            <a:ext cx="349920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spp = 1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Quase só ruído. Com tão poucas amostras a média ainda não acertou a cor.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Picture 7" descr="render_spp4.png"/>
          <p:cNvPicPr/>
          <p:nvPr/>
        </p:nvPicPr>
        <p:blipFill>
          <a:blip r:embed="rId2"/>
          <a:stretch/>
        </p:blipFill>
        <p:spPr>
          <a:xfrm>
            <a:off x="4299840" y="1700280"/>
            <a:ext cx="3499200" cy="279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Box 8"/>
          <p:cNvSpPr/>
          <p:nvPr/>
        </p:nvSpPr>
        <p:spPr>
          <a:xfrm>
            <a:off x="4299840" y="4799880"/>
            <a:ext cx="349920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spp = 4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 sala já aparece, mas o granulado continua.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Picture 9" descr="render_spp32.png"/>
          <p:cNvPicPr/>
          <p:nvPr/>
        </p:nvPicPr>
        <p:blipFill>
          <a:blip r:embed="rId3"/>
          <a:stretch/>
        </p:blipFill>
        <p:spPr>
          <a:xfrm>
            <a:off x="7999920" y="1700280"/>
            <a:ext cx="3499200" cy="279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Box 10"/>
          <p:cNvSpPr/>
          <p:nvPr/>
        </p:nvSpPr>
        <p:spPr>
          <a:xfrm>
            <a:off x="7999920" y="4799880"/>
            <a:ext cx="349920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spp = 32  (referência)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Entrada do relatório. A versão sequencial leva cerca de 54 segundos.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0"/>
          <p:cNvSpPr/>
          <p:nvPr/>
        </p:nvSpPr>
        <p:spPr>
          <a:xfrm>
            <a:off x="822960" y="20088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Text 1"/>
          <p:cNvSpPr/>
          <p:nvPr/>
        </p:nvSpPr>
        <p:spPr>
          <a:xfrm>
            <a:off x="822960" y="1807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3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"/>
          <p:cNvSpPr/>
          <p:nvPr/>
        </p:nvSpPr>
        <p:spPr>
          <a:xfrm>
            <a:off x="1600200" y="24480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PERFIL DE EXECUÇÃO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1389600" y="525960"/>
            <a:ext cx="102405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40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O teto de Amdahl: até onde dá para acelerar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5" descr="13_gprof.png"/>
          <p:cNvPicPr/>
          <p:nvPr/>
        </p:nvPicPr>
        <p:blipFill>
          <a:blip r:embed="rId1"/>
          <a:stretch/>
        </p:blipFill>
        <p:spPr>
          <a:xfrm>
            <a:off x="360000" y="1589040"/>
            <a:ext cx="5939640" cy="471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Rounded Rectangle 6"/>
          <p:cNvSpPr/>
          <p:nvPr/>
        </p:nvSpPr>
        <p:spPr>
          <a:xfrm>
            <a:off x="6500160" y="1900080"/>
            <a:ext cx="5199120" cy="4599360"/>
          </a:xfrm>
          <a:prstGeom prst="roundRect">
            <a:avLst>
              <a:gd name="adj" fmla="val 8000"/>
            </a:avLst>
          </a:prstGeom>
          <a:solidFill>
            <a:srgbClr val="DDDDDD"/>
          </a:solidFill>
          <a:ln w="12700"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" name="TextBox 7"/>
          <p:cNvSpPr/>
          <p:nvPr/>
        </p:nvSpPr>
        <p:spPr>
          <a:xfrm>
            <a:off x="6699960" y="2000160"/>
            <a:ext cx="4849200" cy="43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Leitura do gráfico: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O gprof mostra onde o sequencial gasta tempo. Quase tudo (interseção, vetores, radiance) está no laço das linhas. Só uns 2% ficam de fora: montar a câmera e somar o checksum.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O que é o teto de Amdahl: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Se 98% do programa paraleliza e 2% não, esses 2% continuam iguais mesmo com 100 threads. O teto é o ganho máximo possível por causa dessa fatia que nunca paraleliza. Fórmula: S(p) = 1 / ((1−f) + f/p).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Aqui f ≈ 0,982. O máximo seria 5,51 vezes em 6 threads e cerca de 10 vezes em 12. Medimos 7,44 em 12 — abaixo do teto. Logo o que segura o programa não é essa parte serial.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6" name="Shape 0"/>
          <p:cNvSpPr/>
          <p:nvPr/>
        </p:nvSpPr>
        <p:spPr>
          <a:xfrm>
            <a:off x="720000" y="2826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Text 1"/>
          <p:cNvSpPr/>
          <p:nvPr/>
        </p:nvSpPr>
        <p:spPr>
          <a:xfrm>
            <a:off x="720000" y="241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4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"/>
          <p:cNvSpPr/>
          <p:nvPr/>
        </p:nvSpPr>
        <p:spPr>
          <a:xfrm>
            <a:off x="1497240" y="30600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ESTRATÉGIA DE PARALELIZAÇÃO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"/>
          <p:cNvSpPr/>
          <p:nvPr/>
        </p:nvSpPr>
        <p:spPr>
          <a:xfrm>
            <a:off x="1356120" y="448560"/>
            <a:ext cx="102405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Unidade de trabalho: uma linha da imagem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0" y="1260000"/>
            <a:ext cx="8999640" cy="3959640"/>
          </a:xfrm>
          <a:prstGeom prst="rect">
            <a:avLst/>
          </a:prstGeom>
        </p:spPr>
      </p:pic>
      <p:sp>
        <p:nvSpPr>
          <p:cNvPr id="51" name="TextBox 6"/>
          <p:cNvSpPr/>
          <p:nvPr/>
        </p:nvSpPr>
        <p:spPr>
          <a:xfrm>
            <a:off x="661320" y="5279040"/>
            <a:ext cx="5399280" cy="13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static (esquerda):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Divide a imagem em faixas fixas. A thread 0 fica com o chão, a última com o teto. Se uma atrasar, as outras não podem pegar o trabalho dela.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Box 7"/>
          <p:cNvSpPr/>
          <p:nvPr/>
        </p:nvSpPr>
        <p:spPr>
          <a:xfrm>
            <a:off x="6261120" y="5279040"/>
            <a:ext cx="5399280" cy="13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rgbClr val="1E2933"/>
                </a:solidFill>
                <a:effectLst/>
                <a:uFillTx/>
                <a:latin typeface="Cambria"/>
              </a:rPr>
              <a:t>dynamic,4 (direita):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As linhas vão para um estoque comum, de 4 em 4. Quem termina pega o próximo pacote. Se uma thread atrasar, as outras cobrem. Foi essa a política que usamos. Cada linha continua independente: escreve só nas suas células e tem o próprio gerador aleatório.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670680" y="1872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 1"/>
          <p:cNvSpPr/>
          <p:nvPr/>
        </p:nvSpPr>
        <p:spPr>
          <a:xfrm>
            <a:off x="670680" y="18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6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1447920" y="2512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DECISÃO EMPÍRICA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1107720" y="533160"/>
            <a:ext cx="10423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7 políticas testadas, 12 threads e 10 execuções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Picture 5" descr="16_schedule.png"/>
          <p:cNvPicPr/>
          <p:nvPr/>
        </p:nvPicPr>
        <p:blipFill>
          <a:blip r:embed="rId1"/>
          <a:stretch/>
        </p:blipFill>
        <p:spPr>
          <a:xfrm>
            <a:off x="180000" y="1447200"/>
            <a:ext cx="6917400" cy="513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Rounded Rectangle 6"/>
          <p:cNvSpPr/>
          <p:nvPr/>
        </p:nvSpPr>
        <p:spPr>
          <a:xfrm>
            <a:off x="6800040" y="1900080"/>
            <a:ext cx="4899240" cy="4599360"/>
          </a:xfrm>
          <a:prstGeom prst="roundRect">
            <a:avLst>
              <a:gd name="adj" fmla="val 8000"/>
            </a:avLst>
          </a:prstGeom>
          <a:solidFill>
            <a:srgbClr val="DDDDDD"/>
          </a:solidFill>
          <a:ln w="12700"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6999840" y="2000160"/>
            <a:ext cx="4549320" cy="40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Leitura do gráfico</a:t>
            </a:r>
            <a:r>
              <a:rPr lang="pt-BR" sz="18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Cada barra é a mediana de 10 execuções. A haste mostra o pior e o melhor tempo. Barra baixa e haste curta significa rápido e estável.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1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Por que dynamic,4 (verde):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O melhor resultado foi dynamic com blocos de 4 linhas: 7,16 s, e quase não variou. O static sem chunk foi o pior: mais lento e com tempos que oscilam muito. No WSL2, se uma thread atrasa, ela segura o bloco inteiro e as outras não podem ajudar. No dynamic,4, quem termina pega as próximas 4 linhas e cobre esse atraso.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 desequilíbrio do próprio algoritmo é menor que 1%. O que atrasa é o sistema interrompendo as threads, não o fato de o espelho custar mais que o fundo.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720000" y="1800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 1"/>
          <p:cNvSpPr/>
          <p:nvPr/>
        </p:nvSpPr>
        <p:spPr>
          <a:xfrm>
            <a:off x="720000" y="1800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7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"/>
          <p:cNvSpPr/>
          <p:nvPr/>
        </p:nvSpPr>
        <p:spPr>
          <a:xfrm>
            <a:off x="1497240" y="2440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RESULTADOS: ESCALABILIDADE FORTE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"/>
          <p:cNvSpPr/>
          <p:nvPr/>
        </p:nvSpPr>
        <p:spPr>
          <a:xfrm>
            <a:off x="977040" y="555840"/>
            <a:ext cx="10423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Speed-up: acompanha Amdahl até 6 threads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5" descr="14_speedup.png"/>
          <p:cNvPicPr/>
          <p:nvPr/>
        </p:nvPicPr>
        <p:blipFill>
          <a:blip r:embed="rId1"/>
          <a:stretch/>
        </p:blipFill>
        <p:spPr>
          <a:xfrm>
            <a:off x="180000" y="1469880"/>
            <a:ext cx="7405920" cy="50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Rounded Rectangle 6"/>
          <p:cNvSpPr/>
          <p:nvPr/>
        </p:nvSpPr>
        <p:spPr>
          <a:xfrm>
            <a:off x="7400160" y="1879920"/>
            <a:ext cx="4299120" cy="4599360"/>
          </a:xfrm>
          <a:prstGeom prst="roundRect">
            <a:avLst>
              <a:gd name="adj" fmla="val 8000"/>
            </a:avLst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7580160" y="1980000"/>
            <a:ext cx="399924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02C39A"/>
                </a:solidFill>
                <a:effectLst/>
                <a:uFillTx/>
                <a:latin typeface="Cambria"/>
              </a:rPr>
              <a:t>Leitura do gráfico: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 eixo x é o número de threads. Cinza é o mundo ideal: dobrar as threads dobraria a velocidade. Azul é o que medimos. A faixa clara é o min e o max das 10 execuções. A linha no 6 é o começo do SMT.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02C39A"/>
                </a:solidFill>
                <a:effectLst/>
                <a:uFillTx/>
                <a:latin typeface="Cambria"/>
              </a:rPr>
              <a:t>Até 6 núcleos físicos: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Cada thread ganha um núcleo de verdade. O ganho chega a 4,93 vezes, perto do teto de 5,51 (82% de eficiência).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02C39A"/>
                </a:solidFill>
                <a:effectLst/>
                <a:uFillTx/>
                <a:latin typeface="Cambria"/>
              </a:rPr>
              <a:t>O que é SMT: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 processador tem 6 núcleos, mas anuncia 12 threads. SMT (simultaneous multithreading) faz cada núcleo rodar duas threads ao mesmo tempo, compartilhando a mesma unidade de cálculo. No smallpt isso pesa: o programa vive de contas com double. Em 12 threads o ganho é 7,44 vezes (62%). Como 7,44 é menor que o teto de Amdahl (10), a curva quebra pelo SMT, não pela parte serial.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822960" y="36000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 1"/>
          <p:cNvSpPr/>
          <p:nvPr/>
        </p:nvSpPr>
        <p:spPr>
          <a:xfrm>
            <a:off x="822960" y="3600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8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1600200" y="4240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RESULTADOS: ESCALABILIDADE FRACA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1080000" y="705960"/>
            <a:ext cx="10423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E2933"/>
                </a:solidFill>
                <a:effectLst/>
                <a:uFillTx/>
                <a:latin typeface="Cambria"/>
                <a:ea typeface="Cambria"/>
              </a:rPr>
              <a:t>Forte vs fraca: as duas caem no SMT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Picture 5" descr="15_eficiencia.png"/>
          <p:cNvPicPr/>
          <p:nvPr/>
        </p:nvPicPr>
        <p:blipFill>
          <a:blip r:embed="rId1"/>
          <a:stretch/>
        </p:blipFill>
        <p:spPr>
          <a:xfrm>
            <a:off x="220320" y="1440000"/>
            <a:ext cx="7450200" cy="50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Rounded Rectangle 6"/>
          <p:cNvSpPr/>
          <p:nvPr/>
        </p:nvSpPr>
        <p:spPr>
          <a:xfrm>
            <a:off x="7400160" y="1879920"/>
            <a:ext cx="4299120" cy="4599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pt-B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7580160" y="1959840"/>
            <a:ext cx="3999240" cy="42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wrap="square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O que o gráfico compara: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6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Azul: o problema tem o mesmo tamanho o tempo todo (escalabilidade forte). Amarelo: o problema cresce junto com as threads (escalabilidade fraca). 100% seria “mais threads, mesmo tempo”. A linha no 6 é o SMT.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Como medimos a fraca: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16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 imagem continua 800×600. Só aumenta o número de amostras: spp = 32 × threads. Assim cada thread continua com a mesma carga. A pergunta é: com mais núcleos, dá para resolver um problema maior no mesmo tempo?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rgbClr val="1C7293"/>
                </a:solidFill>
                <a:effectLst/>
                <a:uFillTx/>
                <a:latin typeface="Cambria"/>
              </a:rPr>
              <a:t>O que os números mostram: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rgbClr val="1E2933"/>
                </a:solidFill>
                <a:effectLst/>
                <a:uFillTx/>
                <a:latin typeface="Calibri"/>
              </a:rPr>
              <a:t>Até 4 threads o tempo quase não muda (55,6 s para 58,6 s): a fraca se segura. Em 12 threads sobe para 124 s (45%). Depois do SMT cada núcleo recebe duas tarefas completas, por isso a fraca cai mais que a forte. As duas curvas quebram no 6: o limite é da máquina, não do algoritmo.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1"/>
          <p:cNvSpPr/>
          <p:nvPr/>
        </p:nvSpPr>
        <p:spPr>
          <a:xfrm>
            <a:off x="868680" y="54900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CONCLUSÃO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868680" y="900000"/>
            <a:ext cx="1105668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Cambria"/>
              </a:rPr>
              <a:t>De 54 segundos para 7,3 numa máquina que já temos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864720" y="2520000"/>
            <a:ext cx="3428280" cy="1599480"/>
          </a:xfrm>
          <a:prstGeom prst="roundRect">
            <a:avLst>
              <a:gd name="adj" fmla="val 4571"/>
            </a:avLst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4"/>
          <p:cNvSpPr/>
          <p:nvPr/>
        </p:nvSpPr>
        <p:spPr>
          <a:xfrm>
            <a:off x="1139040" y="2702880"/>
            <a:ext cx="29253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02C39A"/>
                </a:solidFill>
                <a:effectLst/>
                <a:uFillTx/>
                <a:latin typeface="Cambria"/>
                <a:ea typeface="Cambria"/>
              </a:rPr>
              <a:t>7,44×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1139040" y="3434400"/>
            <a:ext cx="2925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Speed-up em 12 threads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6"/>
          <p:cNvSpPr/>
          <p:nvPr/>
        </p:nvSpPr>
        <p:spPr>
          <a:xfrm>
            <a:off x="4568040" y="2520000"/>
            <a:ext cx="3428280" cy="1599480"/>
          </a:xfrm>
          <a:prstGeom prst="roundRect">
            <a:avLst>
              <a:gd name="adj" fmla="val 4571"/>
            </a:avLst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7"/>
          <p:cNvSpPr/>
          <p:nvPr/>
        </p:nvSpPr>
        <p:spPr>
          <a:xfrm>
            <a:off x="4842360" y="2702880"/>
            <a:ext cx="29253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2C39A"/>
                </a:solidFill>
                <a:effectLst/>
                <a:uFillTx/>
                <a:latin typeface="Cambria"/>
                <a:ea typeface="Cambria"/>
              </a:rPr>
              <a:t>82,2%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8"/>
          <p:cNvSpPr/>
          <p:nvPr/>
        </p:nvSpPr>
        <p:spPr>
          <a:xfrm>
            <a:off x="4842360" y="3434400"/>
            <a:ext cx="2925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Eficiência em 6 núcleos físicos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9"/>
          <p:cNvSpPr/>
          <p:nvPr/>
        </p:nvSpPr>
        <p:spPr>
          <a:xfrm>
            <a:off x="8271360" y="2520000"/>
            <a:ext cx="3428280" cy="1599480"/>
          </a:xfrm>
          <a:prstGeom prst="roundRect">
            <a:avLst>
              <a:gd name="adj" fmla="val 4571"/>
            </a:avLst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10"/>
          <p:cNvSpPr/>
          <p:nvPr/>
        </p:nvSpPr>
        <p:spPr>
          <a:xfrm>
            <a:off x="8545680" y="2702880"/>
            <a:ext cx="29253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02C39A"/>
                </a:solidFill>
                <a:effectLst/>
                <a:uFillTx/>
                <a:latin typeface="Cambria"/>
                <a:ea typeface="Cambria"/>
              </a:rPr>
              <a:t>Dynamic, 4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1"/>
          <p:cNvSpPr/>
          <p:nvPr/>
        </p:nvSpPr>
        <p:spPr>
          <a:xfrm>
            <a:off x="8545680" y="3434400"/>
            <a:ext cx="2925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Política escolhida por medição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2"/>
          <p:cNvSpPr/>
          <p:nvPr/>
        </p:nvSpPr>
        <p:spPr>
          <a:xfrm>
            <a:off x="868680" y="4471560"/>
            <a:ext cx="1060632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 wrap="square">
            <a:noAutofit/>
          </a:bodyPr>
          <a:p>
            <a:pPr marL="457200" lvl="1" indent="-21600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 versão sequencial levava 54 segundos. Com 12 threads cai para 7,3 s — 7,44 vezes mais rápido. O melhor custo-benefício são os 6 núcleos físicos (82% de eficiência). As 12 threads ainda aceleram, mas a eficiência cai para 62%.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1600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Isso não é o teto de Amdahl. Com 98% do código paralelo, o máximo em 12 threads seria cerca de 10 vezes; medimos 7,44. O limite é o SMT: duas threads no mesmo núcleo brigam pelo cálculo, e no WSL2 o sistema ainda interrompe threads. Por isso usamos dynamic,4: quem termina pega o próximo bloco e cobre quem atrasou.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1600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Sequencial e paralelo produzem o mesmo checksum: a imagem calculada não muda.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hape 0"/>
          <p:cNvSpPr/>
          <p:nvPr/>
        </p:nvSpPr>
        <p:spPr>
          <a:xfrm>
            <a:off x="802800" y="227880"/>
            <a:ext cx="566280" cy="5662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1"/>
          <p:cNvSpPr/>
          <p:nvPr/>
        </p:nvSpPr>
        <p:spPr>
          <a:xfrm>
            <a:off x="812880" y="1800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B2138"/>
                </a:solidFill>
                <a:effectLst/>
                <a:uFillTx/>
                <a:latin typeface="Cambria"/>
              </a:rPr>
              <a:t>5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1590120" y="2440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300" strike="noStrik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DIRETIVAS OPENMP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"/>
          <p:cNvSpPr/>
          <p:nvPr/>
        </p:nvSpPr>
        <p:spPr>
          <a:xfrm>
            <a:off x="1449000" y="525960"/>
            <a:ext cx="102405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Cambria"/>
              </a:rPr>
              <a:t>As cláusulas e o porquê de cada uma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4"/>
          <p:cNvSpPr/>
          <p:nvPr/>
        </p:nvSpPr>
        <p:spPr>
          <a:xfrm>
            <a:off x="868680" y="2160000"/>
            <a:ext cx="6400080" cy="3959640"/>
          </a:xfrm>
          <a:prstGeom prst="roundRect">
            <a:avLst>
              <a:gd name="adj" fmla="val 1538"/>
            </a:avLst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Text 5"/>
          <p:cNvSpPr/>
          <p:nvPr/>
        </p:nvSpPr>
        <p:spPr>
          <a:xfrm>
            <a:off x="1234440" y="2331720"/>
            <a:ext cx="5760000" cy="35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#pragma omp parallel default(none) \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shared(a, c, cam_o, cam_d, cx, cy,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      stat, threads_used)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#pragma omp for schedule(runtime) nowait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for (int y = 0; y &lt; a.h; ++y) {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 Rng rng;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 rng.s = a.seed ^ ((y+1)*0x9E37...);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 for (int x = 0; x &lt; a.w; ++x) { ... }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7560360" y="1654560"/>
            <a:ext cx="4319640" cy="39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 wrap="square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pt-BR" sz="2100" b="1" u="none" strike="noStrike">
                <a:solidFill>
                  <a:srgbClr val="02C39A"/>
                </a:solidFill>
                <a:effectLst/>
                <a:uFillTx/>
                <a:latin typeface="Calibri"/>
              </a:rPr>
              <a:t>default(none):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 compilador obriga a dizer, para cada variável, se ela é compartilhada ou privada. Se esquecermos alguma, o programa nem compila.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pt-BR" sz="2100" b="1" u="none" strike="noStrike">
                <a:solidFill>
                  <a:srgbClr val="02C39A"/>
                </a:solidFill>
                <a:effectLst/>
                <a:uFillTx/>
                <a:latin typeface="Calibri"/>
              </a:rPr>
              <a:t>Shared: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São as variáveis que todas as threads enxergam: a entrada, a câmera e o buffer da imagem. Cada thread só escreve na sua faixa de linhas, então não há conflito. O vetor de estatísticas tem 64 bytes extras entre posições para as threads não se atrapalharem na cache.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pt-BR" sz="2100" b="1" u="none" strike="noStrike">
                <a:solidFill>
                  <a:srgbClr val="02C39A"/>
                </a:solidFill>
                <a:effectLst/>
                <a:uFillTx/>
                <a:latin typeface="Calibri"/>
              </a:rPr>
              <a:t>schedule(runtime) e nowait: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Dá para trocar o modo de dividir as linhas (static, dynamic, guided) pela variável de ambiente, sem recompilar. O nowait tira a espera no fim do laço, então o relógio de cada thread mede só o trabalho dela. Não usamos reduction: o checksum é calculado depois, já fora do laço.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LibreOffice/26.8.0.3$Windows_X86_64 LibreOffice_project/bce0998afefdbc355585ca324285661a2170ba77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2026-09-08T22:53:57Z</dcterms:created>
  <dc:creator>PptxGenJS</dc:creator>
  <dc:description/>
  <dc:language>pt-BR</dc:language>
  <cp:lastModifiedBy/>
  <cp:lastPrinted>2026-09-14T20:22:38Z</cp:lastPrinted>
  <dcterms:modified xsi:type="dcterms:W3CDTF">2026-09-14T20:46:01Z</dcterms:modified>
  <cp:revision>6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