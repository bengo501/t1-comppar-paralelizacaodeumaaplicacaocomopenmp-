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16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tempo próprio (self)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main</c:v>
                  </c:pt>
                  <c:pt idx="1">
                    <c:v>v_add</c:v>
                  </c:pt>
                  <c:pt idx="2">
                    <c:v>v_scl</c:v>
                  </c:pt>
                  <c:pt idx="3">
                    <c:v>intersect_scene</c:v>
                  </c:pt>
                  <c:pt idx="4">
                    <c:v>v_sub</c:v>
                  </c:pt>
                  <c:pt idx="5">
                    <c:v>v_norm</c:v>
                  </c:pt>
                  <c:pt idx="6">
                    <c:v>v_ (construtor)</c:v>
                  </c:pt>
                  <c:pt idx="7">
                    <c:v>v_dot</c:v>
                  </c:pt>
                  <c:pt idx="8">
                    <c:v>radiance</c:v>
                  </c:pt>
                  <c:pt idx="9">
                    <c:v>sphere_intersect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1.75</c:v>
                </c:pt>
                <c:pt idx="1">
                  <c:v>2.61</c:v>
                </c:pt>
                <c:pt idx="2">
                  <c:v>4.19</c:v>
                </c:pt>
                <c:pt idx="3">
                  <c:v>5.08</c:v>
                </c:pt>
                <c:pt idx="4">
                  <c:v>6.59</c:v>
                </c:pt>
                <c:pt idx="5">
                  <c:v>7.72</c:v>
                </c:pt>
                <c:pt idx="6">
                  <c:v>10.5</c:v>
                </c:pt>
                <c:pt idx="7">
                  <c:v>11.93</c:v>
                </c:pt>
                <c:pt idx="8">
                  <c:v>14.02</c:v>
                </c:pt>
                <c:pt idx="9">
                  <c:v>31.24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Speed-up medido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1.9</c:v>
                </c:pt>
                <c:pt idx="2">
                  <c:v>3.31</c:v>
                </c:pt>
                <c:pt idx="3">
                  <c:v>4.93</c:v>
                </c:pt>
                <c:pt idx="4">
                  <c:v>6.14</c:v>
                </c:pt>
                <c:pt idx="5">
                  <c:v>7.3</c:v>
                </c:pt>
                <c:pt idx="6">
                  <c:v>7.44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 (y = p)</c:v>
                </c:pt>
              </c:strCache>
            </c:strRef>
          </c:tx>
          <c:spPr>
            <a:solidFill>
              <a:srgbClr val="AEB9C4"/>
            </a:solidFill>
            <a:ln w="38100" cap="flat">
              <a:solidFill>
                <a:srgbClr val="AEB9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EB9C4"/>
              </a:solidFill>
              <a:ln w="9525" cap="flat">
                <a:solidFill>
                  <a:srgbClr val="AEB9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C6B7A"/>
                    </a:solidFill>
                    <a:latin typeface="Arial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Forte  T₁/(p·Tₚ)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94.9</c:v>
                </c:pt>
                <c:pt idx="2">
                  <c:v>82.8</c:v>
                </c:pt>
                <c:pt idx="3">
                  <c:v>82.2</c:v>
                </c:pt>
                <c:pt idx="4">
                  <c:v>76.8</c:v>
                </c:pt>
                <c:pt idx="5">
                  <c:v>73</c:v>
                </c:pt>
                <c:pt idx="6">
                  <c:v>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Fraca  T₁/Tₚ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98.6</c:v>
                </c:pt>
                <c:pt idx="2">
                  <c:v>95</c:v>
                </c:pt>
                <c:pt idx="3">
                  <c:v>82.2</c:v>
                </c:pt>
                <c:pt idx="4">
                  <c:v>61</c:v>
                </c:pt>
                <c:pt idx="5">
                  <c:v>51.2</c:v>
                </c:pt>
                <c:pt idx="6">
                  <c:v>44.8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C6B7A"/>
                    </a:solidFill>
                    <a:latin typeface="Arial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5120640" cy="5120640"/>
          </a:xfrm>
          <a:prstGeom prst="ellipse">
            <a:avLst/>
          </a:prstGeom>
          <a:solidFill>
            <a:srgbClr val="12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·  COMPUTAÇÃO PARALELA  ·  UNIDADE 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Paralelização de uma aplicação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OpenMP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path tracer estilo smallpt (Kevin Beason), reescrito em C11 — renderização Monte Carlo de uma Cornell Box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Klein Heitz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Ryzen 5 3600 (6 núcleos / 12 threads)  ·  gcc 11.4  ·  Ubuntu 22.04 (WSL2)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2400" b="1">
                <a:solidFill>
                  <a:srgbClr val="0B2138"/>
                </a:solidFill>
                <a:latin typeface="Cambria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smallpt</a:t>
            </a:r>
            <a:endParaRPr lang="en-US" sz="3400"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1980000"/>
            <a:ext cx="52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path tracer mínimo do kevin beason (2008), reescrito em c11. não é um motor de jogos: é um integrador de luz.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para cada pixel, o programa dispara raios da câmera, deixa ricochetear na cena e soma a cor da luz que o caminho coletou. um único caminho é ruidoso; a média de muitos caminhos vira a imagem.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a cena é a cornell box: parede vermelha, parede azul, esfera de espelho, esfera de vidro e luz no teto. as “paredes” são esferas gigantes.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E2933"/>
                </a:solidFill>
                <a:latin typeface="Calibri"/>
              </a:rPr>
              <a:t>entrada: -w largura, -h altura, -s spp (amostras por subpixel). custo proporcional a w · h · spp. referência: 800×600, spp=32 → T1 ≈ 54 s.</a:t>
            </a:r>
          </a:p>
        </p:txBody>
      </p:sp>
      <p:pic>
        <p:nvPicPr>
          <p:cNvPr id="7" name="Picture 6" descr="17_render_referencia_800x600_spp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0" y="1980000"/>
            <a:ext cx="5400000" cy="3200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00000" y="5300000"/>
            <a:ext cx="5400000" cy="1200000"/>
          </a:xfrm>
          <a:prstGeom prst="roundRect">
            <a:avLst>
              <a:gd name="adj" fmla="val 8000"/>
            </a:avLst>
          </a:prstGeom>
          <a:solidFill>
            <a:srgbClr val="0B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000" y="5420000"/>
            <a:ext cx="5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por que este programa    T1 ≈ 54 s    1 laço por linha    não trivial (espelho, vidro, monte carlo)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2400" b="1">
                <a:solidFill>
                  <a:srgbClr val="0B2138"/>
                </a:solidFill>
                <a:latin typeface="Cambria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EXECUÇÃO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sz="2600" b="1">
                <a:solidFill>
                  <a:srgbClr val="1E2933"/>
                </a:solidFill>
                <a:latin typeface="Cambria"/>
              </a:rPr>
              <a:t>Onde paralelizar — teto de Amdahl</a:t>
            </a:r>
            <a:endParaRPr lang="en-US" sz="3400" dirty="0"/>
          </a:p>
        </p:txBody>
      </p:sp>
      <p:pic>
        <p:nvPicPr>
          <p:cNvPr id="6" name="Picture 5" descr="13_gpr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00" y="1900000"/>
            <a:ext cx="5800000" cy="460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00000" y="1900000"/>
            <a:ext cx="5200000" cy="4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0000" y="2000000"/>
            <a:ext cx="485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o que o gráfico mostra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tempo próprio do gprof na versão sequencial. quase tudo (interseção, vetores, radiance, rng) é chamado de dentro do laço em y. só o main (~1,8%) fica de fora: setup e checksum.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o que é o teto de amdahl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se uma fração f é paralelizada e 1−f permanece serial, o speed-up com p threads não passa de S(p) = 1 / ((1−f) + f/p). a parte serial não encolhe, por mais threads que se coloque.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aqui f ≈ 0,982. teto em 6 threads ≈ 5,51; em 12 ≈ 10; com infinitas threads S∞ = 1/(1−f) ≈ 55,6. medimos 7,44× em 12 — abaixo de 10. a saturação não é essa fração serial.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2400" b="1">
                <a:solidFill>
                  <a:srgbClr val="0B2138"/>
                </a:solidFill>
                <a:latin typeface="Cambria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PARALELIZAÇÃO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 de trabalho: uma linha da imagem</a:t>
            </a:r>
            <a:endParaRPr lang="en-US" sz="3400" dirty="0"/>
          </a:p>
        </p:txBody>
      </p:sp>
      <p:pic>
        <p:nvPicPr>
          <p:cNvPr id="6" name="Picture 5" descr="11_eixo_paralelis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850000"/>
            <a:ext cx="11600000" cy="2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000" y="4700000"/>
            <a:ext cx="54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2933"/>
                </a:solidFill>
                <a:latin typeface="Cambria"/>
              </a:rPr>
              <a:t>static (esquerda)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parte a imagem em faixas contíguas e fixas. a thread 0 fica com o chão (y=0), a última com o teto. se uma thread atrasa — no wsl2 isso acontece por preempção — o bloco inteiro dela trava e as outras não pegam o trabalho dela.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0" y="4700000"/>
            <a:ext cx="54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2933"/>
                </a:solidFill>
                <a:latin typeface="Cambria"/>
              </a:rPr>
              <a:t>dynamic,4 (direita)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as linhas entram num estoque comum em blocos de 4. a thread que termina pega o próximo bloco. o atraso de uma é absorvido pelas outras. foi a política adotada. cada linha continua independente: escrita só em c[y·w+x], rng privado, sem atomic.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2400" b="1">
                <a:solidFill>
                  <a:srgbClr val="0B2138"/>
                </a:solidFill>
                <a:latin typeface="Cambria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DIRETIVAS OPENMP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cláusulas e o porquê de cada uma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6400800" cy="3566160"/>
          </a:xfrm>
          <a:prstGeom prst="roundRect">
            <a:avLst>
              <a:gd name="adj" fmla="val 1538"/>
            </a:avLst>
          </a:prstGeom>
          <a:solidFill>
            <a:srgbClr val="12324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234440" y="233172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default(none) \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shared(a, c, cam_o, cam_d, cx, cy,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stat, threads_used)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#pragma omp for schedule(runtime) nowait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y = 0; y &lt; a.h; ++y) {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Rng rng;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rng.s = a.seed ^ ((y+1)*0x9E37...);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x = 0; x &lt; a.w; ++x) { ... }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377440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00" b="1">
                <a:solidFill>
                  <a:srgbClr val="02C39A"/>
                </a:solidFill>
                <a:latin typeface="Calibri"/>
              </a:rPr>
              <a:t>default(none)</a:t>
            </a:r>
            <a:endParaRPr lang="en-US" sz="1350" dirty="0"/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obriga listar o escopo de cada variável. se algo deveria ser private e não foi declarado, o compilador recusa — não deixa a condição de corrida escondida.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shared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só entradas (a, câmera), o buffer c (cada thread escreve numa faixa disjunta) e stat[tid] com padding de 64 B contra falso compartilhamento.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schedule(runtime) e nowait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 política vem de OMP_SCHEDULE, então comparamos static/dynamic/guided sem recompilar. nowait tira a barreira do for: o tempo por thread é a carga real. sem reduction: não há acumulador no laço quente; o checksum é depois.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2400" b="1">
                <a:solidFill>
                  <a:srgbClr val="0B2138"/>
                </a:solidFill>
                <a:latin typeface="Cambria"/>
              </a:rPr>
              <a:t>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EMPÍRICA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políticas testadas · 12 threads · 10 execuções</a:t>
            </a:r>
            <a:endParaRPr lang="en-US" sz="3400" dirty="0"/>
          </a:p>
        </p:txBody>
      </p:sp>
      <p:pic>
        <p:nvPicPr>
          <p:cNvPr id="6" name="Picture 5" descr="16_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00" y="1900000"/>
            <a:ext cx="6200000" cy="460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00000" y="1900000"/>
            <a:ext cx="4900000" cy="4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0" y="2000000"/>
            <a:ext cx="455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o que o gráfico mostra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mediana de 10 execuções em 12 threads. a haste é o intervalo min–max. barra mais baixa e haste curta = mais rápido e mais estável.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por que dynamic,4 (verde)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menor mediana (7,16 s) e menor dispersão (7,01–7,35 s). static sem chunk é o pior e o mais volátil (7,57–11,78 s): no wsl2 uma thread preemptada trava o bloco fixo. dynamic,4 redistribui e absorve o atraso.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Calibri"/>
              </a:rPr>
              <a:t>o algoritmo em si desbalanceia &lt; 1% entre threads. o fator decisivo não é o espelho vs. o fundo: é a robustez à preempção do sistema.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2400" b="1">
                <a:solidFill>
                  <a:srgbClr val="0B2138"/>
                </a:solidFill>
                <a:latin typeface="Cambria"/>
              </a:rPr>
              <a:t>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ESCALABILIDADE FORTE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Speed-up: acompanha Amdahl até 6 threads</a:t>
            </a:r>
            <a:endParaRPr lang="en-US" sz="3400" dirty="0"/>
          </a:p>
        </p:txBody>
      </p:sp>
      <p:pic>
        <p:nvPicPr>
          <p:cNvPr id="6" name="Picture 5" descr="14_speed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00" y="1880000"/>
            <a:ext cx="6800000" cy="460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0000" y="1880000"/>
            <a:ext cx="4300000" cy="4600000"/>
          </a:xfrm>
          <a:prstGeom prst="roundRect">
            <a:avLst>
              <a:gd name="adj" fmla="val 8000"/>
            </a:avLst>
          </a:prstGeom>
          <a:solidFill>
            <a:srgbClr val="0B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0000" y="1980000"/>
            <a:ext cx="40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como ler o gráfico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eixo x = threads (1, 2, 4, 6, 8, 10, 12). linha cinza = speed-up ideal (y = p). azul = mediana medida. faixa clara = min/max das 10 execuções. linha pontilhada em 6 = início do smt.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até 6 núcleos físicos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speed-up 4,93 (teto de amdahl 5,51), eficiência 82,2%. a curva acompanha o ideal de perto.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depois de 6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D9E2EC"/>
                </a:solidFill>
                <a:latin typeface="Calibri"/>
              </a:rPr>
              <a:t>duas threads no mesmo núcleo disputam ponto flutuante. em 12: 7,44× e 62%. 7,44 &lt; teto 10 → a quebra é smt, não a fração serial.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2400" b="1">
                <a:solidFill>
                  <a:srgbClr val="0B2138"/>
                </a:solidFill>
                <a:latin typeface="Cambria"/>
              </a:rPr>
              <a:t>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ESCALABILIDADE FRACA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097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Eficiência: ambas quebram ao entrar no SMT</a:t>
            </a:r>
            <a:endParaRPr lang="en-US" sz="3400" dirty="0"/>
          </a:p>
        </p:txBody>
      </p:sp>
      <p:pic>
        <p:nvPicPr>
          <p:cNvPr id="6" name="Picture 5" descr="15_eficie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00" y="1880000"/>
            <a:ext cx="6800000" cy="460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0000" y="1880000"/>
            <a:ext cx="4300000" cy="4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0000" y="1960000"/>
            <a:ext cx="400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como ler o gráfico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azul = eficiência da forte (trabalho fixo). amarelo = eficiência da fraca. 100% = o tempo não cresce ao colocar mais threads. a linha pontilhada em 6 marca o smt.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regra da fraca: spp = 32 · p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w e h ficam 800×600. o spp cresce com as threads porque o custo é linear em spp. o trabalho por thread permanece ~constante.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C7293"/>
                </a:solidFill>
                <a:latin typeface="Cambria"/>
              </a:rPr>
              <a:t>o que acontece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até 4 threads a fraca quase horizontal (55,6 → 58,6 s). em 12: 124 s (44,8%). cada núcleo recebe duas cargas completas, então a fraca cai mais que a forte. as duas quebram no mesmo ponto: a máquina, não o algoritmo.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12324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686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54 s para 7,3 s numa máquina que já temos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27432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2324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14300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7,44×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657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 em 12 threads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7432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2324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4632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82,2%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3657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em 6 núcleos físicos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75320" y="27432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2324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54964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dynamic, 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657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escolhida por medição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0916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300" b="0">
                <a:solidFill>
                  <a:srgbClr val="D9E2EC"/>
                </a:solidFill>
                <a:latin typeface="Calibri"/>
              </a:rPr>
              <a:t>o que os números dizem: de 54 s para 7,3 s (7,44×) numa máquina que já temos. o ponto doce são os 6 núcleos físicos (82,2%). as 12 threads lógicas ainda ajudam, mas com eficiência 62%.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D9E2EC"/>
                </a:solidFill>
                <a:latin typeface="Calibri"/>
              </a:rPr>
              <a:t>a saturação não é amdahl. f = 0,982 permitiria ~10× em 12 threads; medimos 7,44×. a causa é smt (duas threads disputam o ponto flutuante no mesmo núcleo) somada à preempção do wsl2. por isso adotamos dynamic,4: redistribui blocos quando uma thread atrasa.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D9E2EC"/>
                </a:solidFill>
                <a:latin typeface="Calibri"/>
              </a:rPr>
              <a:t>a versão paralela é equivalente à sequencial (checksum rgb idêntico de 1 a 12 threads e nas 7 políticas). tudo reproduzível: make all, scripts/run_all.sh e scripts/plot.py.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B2138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49808"/>
            <a:ext cx="9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097280"/>
            <a:ext cx="1024128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933"/>
                </a:solidFill>
                <a:latin typeface="Cambria"/>
              </a:rPr>
              <a:t>Como um pixel ganha cor</a:t>
            </a:r>
          </a:p>
        </p:txBody>
      </p:sp>
      <p:pic>
        <p:nvPicPr>
          <p:cNvPr id="6" name="Picture 5" descr="04_path_tracing_rot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980000"/>
            <a:ext cx="6400000" cy="44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00000" y="1980000"/>
            <a:ext cx="44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2933"/>
                </a:solidFill>
                <a:latin typeface="Cambria"/>
              </a:rPr>
              <a:t>path tracing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o raio sai da câmera, atravessa um pixel da imagem e rebate na cena. em parede difusa o próximo rumo é aleatório; no espelho reflete; no vidro pode refratar. a cor do pixel é a luz acumulada nesse caminho.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2933"/>
                </a:solidFill>
                <a:latin typeface="Cambria"/>
              </a:rPr>
              <a:t>monte carlo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estima um integral difícil (a luz que chega no pixel) pela média de amostras aleatórias. um caminho só é uma amostra ruim; milhares no mesmo pixel convergem para a imagem certa.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2933"/>
                </a:solidFill>
                <a:latin typeface="Cambria"/>
              </a:rPr>
              <a:t>-w  -h  -s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-w = largura em pixels. -h = altura. -s = spp = amostras por subpixel (há 2×2 subpixels, então 4·spp caminhos por pixel). dobrar o spp dobra o tempo.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B2138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49808"/>
            <a:ext cx="9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097280"/>
            <a:ext cx="1024128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933"/>
                </a:solidFill>
                <a:latin typeface="Cambria"/>
              </a:rPr>
              <a:t>Isto é renderização: mais amostras, menos ruído</a:t>
            </a:r>
          </a:p>
        </p:txBody>
      </p:sp>
      <p:pic>
        <p:nvPicPr>
          <p:cNvPr id="6" name="Picture 5" descr="render_sp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950000"/>
            <a:ext cx="3500000" cy="2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000" y="4800000"/>
            <a:ext cx="3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2933"/>
                </a:solidFill>
                <a:latin typeface="Cambria"/>
              </a:rPr>
              <a:t>spp = 1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4 caminhos/pixel. quase só ruído: a média ainda não estabilizou.</a:t>
            </a:r>
          </a:p>
        </p:txBody>
      </p:sp>
      <p:pic>
        <p:nvPicPr>
          <p:cNvPr id="8" name="Picture 7" descr="render_sp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000" y="1950000"/>
            <a:ext cx="3500000" cy="2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00000" y="4800000"/>
            <a:ext cx="3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2933"/>
                </a:solidFill>
                <a:latin typeface="Cambria"/>
              </a:rPr>
              <a:t>spp = 4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16 caminhos/pixel. a sala aparece, mas o granulado continua forte.</a:t>
            </a:r>
          </a:p>
        </p:txBody>
      </p:sp>
      <p:pic>
        <p:nvPicPr>
          <p:cNvPr id="10" name="Picture 9" descr="render_spp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00" y="1950000"/>
            <a:ext cx="3500000" cy="28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0000" y="4800000"/>
            <a:ext cx="3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2933"/>
                </a:solidFill>
                <a:latin typeface="Cambria"/>
              </a:rPr>
              <a:t>spp = 32  (referência)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128 caminhos/pixel. mesma entrada do relatório. T1 ≈ 54 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2026-09-08T22:53:57Z</dcterms:created>
  <dcterms:modified xsi:type="dcterms:W3CDTF">2026-09-08T22:53:57Z</dcterms:modified>
</cp:coreProperties>
</file>